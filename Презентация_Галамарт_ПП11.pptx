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828800" cy="868680"/>
          </a:xfrm>
          <a:prstGeom prst="rect">
            <a:avLst/>
          </a:prstGeom>
          <a:noFill/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75569"/>
                </a:solidFill>
                <a:latin typeface="Arial"/>
              </a:rPr>
              <a:t>ЛОГОТИП
КОЛЛЕДЖА</a:t>
            </a:r>
          </a:p>
        </p:txBody>
      </p:sp>
      <p:sp>
        <p:nvSpPr>
          <p:cNvPr id="6" name="Rectangle 5"/>
          <p:cNvSpPr/>
          <p:nvPr/>
        </p:nvSpPr>
        <p:spPr>
          <a:xfrm>
            <a:off x="9811512" y="411480"/>
            <a:ext cx="1828800" cy="868680"/>
          </a:xfrm>
          <a:prstGeom prst="rect">
            <a:avLst/>
          </a:prstGeom>
          <a:noFill/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1512" y="41148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75569"/>
                </a:solidFill>
                <a:latin typeface="Arial"/>
              </a:rPr>
              <a:t>ЛОГОТИП
ПРЕДПРИЯТИЯ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 dirty="0">
                <a:solidFill>
                  <a:srgbClr val="94A3B8"/>
                </a:solidFill>
                <a:latin typeface="Arial"/>
              </a:rPr>
              <a:t>ГБПОУ НСО «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Новосибирский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электромеханический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колледж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64748B"/>
                </a:solidFill>
                <a:latin typeface="Arial"/>
              </a:rPr>
              <a:t>Специальность</a:t>
            </a:r>
            <a:r>
              <a:rPr sz="1200" b="0" i="0" dirty="0">
                <a:solidFill>
                  <a:srgbClr val="64748B"/>
                </a:solidFill>
                <a:latin typeface="Arial"/>
              </a:rPr>
              <a:t> 09.02.07  ·  </a:t>
            </a:r>
            <a:r>
              <a:rPr sz="1200" b="0" i="0" dirty="0" err="1">
                <a:solidFill>
                  <a:srgbClr val="64748B"/>
                </a:solidFill>
                <a:latin typeface="Arial"/>
              </a:rPr>
              <a:t>Информационные</a:t>
            </a:r>
            <a:r>
              <a:rPr sz="1200" b="0" i="0" dirty="0">
                <a:solidFill>
                  <a:srgbClr val="64748B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64748B"/>
                </a:solidFill>
                <a:latin typeface="Arial"/>
              </a:rPr>
              <a:t>системы</a:t>
            </a:r>
            <a:r>
              <a:rPr sz="1200" b="0" i="0" dirty="0">
                <a:solidFill>
                  <a:srgbClr val="64748B"/>
                </a:solidFill>
                <a:latin typeface="Arial"/>
              </a:rPr>
              <a:t> и </a:t>
            </a:r>
            <a:r>
              <a:rPr sz="1200" b="0" i="0" dirty="0" err="1">
                <a:solidFill>
                  <a:srgbClr val="64748B"/>
                </a:solidFill>
                <a:latin typeface="Arial"/>
              </a:rPr>
              <a:t>программирование</a:t>
            </a:r>
            <a:endParaRPr sz="1200" b="0" i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81381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 dirty="0">
                <a:solidFill>
                  <a:srgbClr val="FFFFFF"/>
                </a:solidFill>
                <a:latin typeface="Arial"/>
              </a:rPr>
              <a:t>ПРОИЗВОДСТВЕННАЯ ПРАКТИКА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 dirty="0">
                <a:solidFill>
                  <a:srgbClr val="059669"/>
                </a:solidFill>
                <a:latin typeface="Arial"/>
              </a:rPr>
              <a:t>ПМ.11  </a:t>
            </a:r>
            <a:r>
              <a:rPr sz="1900" b="1" i="0" dirty="0" err="1">
                <a:solidFill>
                  <a:srgbClr val="059669"/>
                </a:solidFill>
                <a:latin typeface="Arial"/>
              </a:rPr>
              <a:t>Разработка</a:t>
            </a:r>
            <a:r>
              <a:rPr sz="1900" b="1" i="0" dirty="0">
                <a:solidFill>
                  <a:srgbClr val="059669"/>
                </a:solidFill>
                <a:latin typeface="Arial"/>
              </a:rPr>
              <a:t>, </a:t>
            </a:r>
            <a:r>
              <a:rPr sz="1900" b="1" i="0" dirty="0" err="1">
                <a:solidFill>
                  <a:srgbClr val="059669"/>
                </a:solidFill>
                <a:latin typeface="Arial"/>
              </a:rPr>
              <a:t>администрирование</a:t>
            </a:r>
            <a:r>
              <a:rPr sz="1900" b="1" i="0" dirty="0">
                <a:solidFill>
                  <a:srgbClr val="059669"/>
                </a:solidFill>
                <a:latin typeface="Arial"/>
              </a:rPr>
              <a:t> и </a:t>
            </a:r>
            <a:r>
              <a:rPr sz="1900" b="1" i="0" dirty="0" err="1">
                <a:solidFill>
                  <a:srgbClr val="059669"/>
                </a:solidFill>
                <a:latin typeface="Arial"/>
              </a:rPr>
              <a:t>защита</a:t>
            </a:r>
            <a:r>
              <a:rPr sz="1900" b="1" i="0" dirty="0">
                <a:solidFill>
                  <a:srgbClr val="059669"/>
                </a:solidFill>
                <a:latin typeface="Arial"/>
              </a:rPr>
              <a:t> </a:t>
            </a:r>
            <a:r>
              <a:rPr sz="1900" b="1" i="0" dirty="0" err="1">
                <a:solidFill>
                  <a:srgbClr val="059669"/>
                </a:solidFill>
                <a:latin typeface="Arial"/>
              </a:rPr>
              <a:t>баз</a:t>
            </a:r>
            <a:r>
              <a:rPr sz="1900" b="1" i="0" dirty="0">
                <a:solidFill>
                  <a:srgbClr val="059669"/>
                </a:solidFill>
                <a:latin typeface="Arial"/>
              </a:rPr>
              <a:t> </a:t>
            </a:r>
            <a:r>
              <a:rPr sz="1900" b="1" i="0" dirty="0" err="1">
                <a:solidFill>
                  <a:srgbClr val="059669"/>
                </a:solidFill>
                <a:latin typeface="Arial"/>
              </a:rPr>
              <a:t>данных</a:t>
            </a:r>
            <a:endParaRPr sz="1900" b="1" i="0" dirty="0">
              <a:solidFill>
                <a:srgbClr val="059669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 i="0" dirty="0" err="1">
                <a:solidFill>
                  <a:srgbClr val="CBD5E1"/>
                </a:solidFill>
                <a:latin typeface="Arial"/>
              </a:rPr>
              <a:t>Веб-приложение</a:t>
            </a:r>
            <a:r>
              <a:rPr sz="2000" b="0" i="0" dirty="0">
                <a:solidFill>
                  <a:srgbClr val="CBD5E1"/>
                </a:solidFill>
                <a:latin typeface="Arial"/>
              </a:rPr>
              <a:t> «</a:t>
            </a:r>
            <a:r>
              <a:rPr sz="2000" b="0" i="0" dirty="0" err="1">
                <a:solidFill>
                  <a:srgbClr val="CBD5E1"/>
                </a:solidFill>
                <a:latin typeface="Arial"/>
              </a:rPr>
              <a:t>Галамарт</a:t>
            </a:r>
            <a:r>
              <a:rPr sz="2000" b="0" i="0" dirty="0">
                <a:solidFill>
                  <a:srgbClr val="CBD5E1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CBD5E1"/>
                </a:solidFill>
                <a:latin typeface="Arial"/>
              </a:rPr>
              <a:t>Склад</a:t>
            </a:r>
            <a:r>
              <a:rPr sz="2000" b="0" i="0" dirty="0">
                <a:solidFill>
                  <a:srgbClr val="CBD5E1"/>
                </a:solidFill>
                <a:latin typeface="Arial"/>
              </a:rPr>
              <a:t>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 err="1">
                <a:solidFill>
                  <a:srgbClr val="94A3B8"/>
                </a:solidFill>
                <a:latin typeface="Arial"/>
              </a:rPr>
              <a:t>Учёт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остатков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контроль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дефицита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заявки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поставщикам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 и 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отчётность</a:t>
            </a:r>
            <a:endParaRPr sz="1300" b="0" i="0" dirty="0">
              <a:solidFill>
                <a:srgbClr val="94A3B8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1248" y="5029200"/>
            <a:ext cx="146304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230368"/>
            <a:ext cx="8138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BD5E1"/>
                </a:solidFill>
                <a:latin typeface="Arial"/>
              </a:rPr>
              <a:t>Период практики:  [ укажите период 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Arial"/>
              </a:rPr>
              <a:t>Место прохождения:  магазин «Галамарт», г. Новосибирск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2606040"/>
            <a:ext cx="2606040" cy="2788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098280" y="2606040"/>
            <a:ext cx="73152" cy="2788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2600" y="2788920"/>
            <a:ext cx="2194560" cy="1526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 dirty="0">
                <a:solidFill>
                  <a:srgbClr val="059669"/>
                </a:solidFill>
                <a:latin typeface="Arial"/>
              </a:rPr>
              <a:t>ВЫПОЛНИЛ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 dirty="0" err="1">
                <a:solidFill>
                  <a:srgbClr val="FFFFFF"/>
                </a:solidFill>
                <a:latin typeface="Arial"/>
              </a:rPr>
              <a:t>Шлыков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Д.В.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 dirty="0">
                <a:solidFill>
                  <a:srgbClr val="059669"/>
                </a:solidFill>
                <a:latin typeface="Arial"/>
              </a:rPr>
              <a:t>ГРУППА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ИСП-</a:t>
            </a:r>
            <a:r>
              <a:rPr lang="en-US" sz="1600" b="1" i="0" dirty="0">
                <a:solidFill>
                  <a:srgbClr val="FFFFFF"/>
                </a:solidFill>
                <a:latin typeface="Arial"/>
              </a:rPr>
              <a:t>4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31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 dirty="0">
                <a:solidFill>
                  <a:srgbClr val="059669"/>
                </a:solidFill>
                <a:latin typeface="Arial"/>
              </a:rPr>
              <a:t>РУКОВОДИТЕЛЬ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Arial"/>
              </a:rPr>
              <a:t>Николаенко</a:t>
            </a:r>
            <a:r>
              <a:rPr sz="1400" b="1" i="0" dirty="0">
                <a:solidFill>
                  <a:srgbClr val="FFFFFF"/>
                </a:solidFill>
                <a:latin typeface="Arial"/>
              </a:rPr>
              <a:t> В.В.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rial"/>
              </a:rPr>
              <a:t>г. Новосибирск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СЛАЙД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Arial"/>
              </a:rPr>
              <a:t>Краткая справка о предприятии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1481328"/>
            <a:ext cx="137160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783080"/>
            <a:ext cx="51206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1783080"/>
            <a:ext cx="73152" cy="44348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201168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1E293B"/>
                </a:solidFill>
                <a:latin typeface="Arial"/>
              </a:rPr>
              <a:t>Торговая сеть «Галамарт»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334155"/>
                </a:solidFill>
                <a:latin typeface="Arial"/>
              </a:rPr>
              <a:t>Полное название:  </a:t>
            </a:r>
            <a:r>
              <a:rPr sz="1300" b="0">
                <a:solidFill>
                  <a:srgbClr val="475569"/>
                </a:solidFill>
                <a:latin typeface="Arial"/>
              </a:rPr>
              <a:t>[ укажите полное юридическое название 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334155"/>
                </a:solidFill>
                <a:latin typeface="Arial"/>
              </a:rPr>
              <a:t>Место:  </a:t>
            </a:r>
            <a:r>
              <a:rPr sz="1300" b="0">
                <a:solidFill>
                  <a:srgbClr val="475569"/>
                </a:solidFill>
                <a:latin typeface="Arial"/>
              </a:rPr>
              <a:t>г. Новосибирск, ул. Военная, 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334155"/>
                </a:solidFill>
                <a:latin typeface="Arial"/>
              </a:rPr>
              <a:t>Дата основания:  </a:t>
            </a:r>
            <a:r>
              <a:rPr sz="1300" b="0">
                <a:solidFill>
                  <a:srgbClr val="475569"/>
                </a:solidFill>
                <a:latin typeface="Arial"/>
              </a:rPr>
              <a:t>[ укажите дату основания 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334155"/>
                </a:solidFill>
                <a:latin typeface="Arial"/>
              </a:rPr>
              <a:t>Сотрудников:  </a:t>
            </a:r>
            <a:r>
              <a:rPr sz="1300" b="0">
                <a:solidFill>
                  <a:srgbClr val="475569"/>
                </a:solidFill>
                <a:latin typeface="Arial"/>
              </a:rPr>
              <a:t>[ укажите количество сотрудников 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334155"/>
                </a:solidFill>
                <a:latin typeface="Arial"/>
              </a:rPr>
              <a:t>Директор:  </a:t>
            </a:r>
            <a:r>
              <a:rPr sz="1300" b="0">
                <a:solidFill>
                  <a:srgbClr val="475569"/>
                </a:solidFill>
                <a:latin typeface="Arial"/>
              </a:rPr>
              <a:t>[ укажите ФИО директора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51206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783080"/>
            <a:ext cx="73152" cy="44348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01168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1E293B"/>
                </a:solidFill>
                <a:latin typeface="Arial"/>
              </a:rPr>
              <a:t>Чем занимается предприятие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475569"/>
                </a:solidFill>
                <a:latin typeface="Arial"/>
              </a:rPr>
              <a:t>Розничная торговля товарами для дома и хозяйства. Основные группы товаров: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sz="1300" b="0">
                <a:solidFill>
                  <a:srgbClr val="475569"/>
                </a:solidFill>
                <a:latin typeface="Arial"/>
              </a:rPr>
              <a:t>Посуда и кухонные принадлежности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sz="1300" b="0">
                <a:solidFill>
                  <a:srgbClr val="475569"/>
                </a:solidFill>
                <a:latin typeface="Arial"/>
              </a:rPr>
              <a:t>Текстиль и товары для дома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sz="1300" b="0">
                <a:solidFill>
                  <a:srgbClr val="475569"/>
                </a:solidFill>
                <a:latin typeface="Arial"/>
              </a:rPr>
              <a:t>Бытовая химия и уход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sz="1300" b="0">
                <a:solidFill>
                  <a:srgbClr val="475569"/>
                </a:solidFill>
                <a:latin typeface="Arial"/>
              </a:rPr>
              <a:t>Хозяйственные товары и инструменты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sz="1300" b="0">
                <a:solidFill>
                  <a:srgbClr val="475569"/>
                </a:solidFill>
                <a:latin typeface="Arial"/>
              </a:rPr>
              <a:t>Декор и товары для сада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СЛАЙД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Arial"/>
              </a:rPr>
              <a:t>Цель и задачи практики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1481328"/>
            <a:ext cx="137160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783080"/>
            <a:ext cx="10460736" cy="12344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1783080"/>
            <a:ext cx="73152" cy="1234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1965960"/>
            <a:ext cx="97840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047857"/>
                </a:solidFill>
                <a:latin typeface="Arial"/>
              </a:rPr>
              <a:t>Цель</a:t>
            </a:r>
            <a:r>
              <a:rPr sz="1600" b="1" dirty="0">
                <a:solidFill>
                  <a:srgbClr val="047857"/>
                </a:solidFill>
                <a:latin typeface="Arial"/>
              </a:rPr>
              <a:t> — 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разработать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веб-приложение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«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Галамарт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Склад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»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для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учёта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товарных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остатков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контроля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минимального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запаса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оформления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заявок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поставщикам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и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формирования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отчётности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337560"/>
            <a:ext cx="33192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3337560"/>
            <a:ext cx="73152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19" y="3538728"/>
            <a:ext cx="27706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59669"/>
                </a:solidFill>
                <a:latin typeface="Arial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93B"/>
                </a:solidFill>
                <a:latin typeface="Arial"/>
              </a:rPr>
              <a:t>Анализ — </a:t>
            </a:r>
            <a:r>
              <a:rPr sz="1250" b="0">
                <a:solidFill>
                  <a:srgbClr val="475569"/>
                </a:solidFill>
                <a:latin typeface="Arial"/>
              </a:rPr>
              <a:t>предметной области и процесса складского учёта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3984" y="3337560"/>
            <a:ext cx="33192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43984" y="3337560"/>
            <a:ext cx="73152" cy="13716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64024" y="3538728"/>
            <a:ext cx="27706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59669"/>
                </a:solidFill>
                <a:latin typeface="Arial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93B"/>
                </a:solidFill>
                <a:latin typeface="Arial"/>
              </a:rPr>
              <a:t>Проектирование — </a:t>
            </a:r>
            <a:r>
              <a:rPr sz="1250" b="0">
                <a:solidFill>
                  <a:srgbClr val="475569"/>
                </a:solidFill>
                <a:latin typeface="Arial"/>
              </a:rPr>
              <a:t>структуры данных и функциональной модели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3337560"/>
            <a:ext cx="33192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19288" y="3337560"/>
            <a:ext cx="73152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9327" y="3538728"/>
            <a:ext cx="27706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59669"/>
                </a:solidFill>
                <a:latin typeface="Arial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93B"/>
                </a:solidFill>
                <a:latin typeface="Arial"/>
              </a:rPr>
              <a:t>Разработка — </a:t>
            </a:r>
            <a:r>
              <a:rPr sz="1250" b="0">
                <a:solidFill>
                  <a:srgbClr val="475569"/>
                </a:solidFill>
                <a:latin typeface="Arial"/>
              </a:rPr>
              <a:t>пользовательского интерфейса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937760"/>
            <a:ext cx="33192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8680" y="4937760"/>
            <a:ext cx="73152" cy="13716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19" y="5138928"/>
            <a:ext cx="27706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59669"/>
                </a:solidFill>
                <a:latin typeface="Arial"/>
              </a:rPr>
              <a:t>04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93B"/>
                </a:solidFill>
                <a:latin typeface="Arial"/>
              </a:rPr>
              <a:t>Реализация — </a:t>
            </a:r>
            <a:r>
              <a:rPr sz="1250" b="0">
                <a:solidFill>
                  <a:srgbClr val="475569"/>
                </a:solidFill>
                <a:latin typeface="Arial"/>
              </a:rPr>
              <a:t>операций с товарами и заявками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43984" y="4937760"/>
            <a:ext cx="33192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43984" y="4937760"/>
            <a:ext cx="73152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64024" y="5138928"/>
            <a:ext cx="27706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59669"/>
                </a:solidFill>
                <a:latin typeface="Arial"/>
              </a:rPr>
              <a:t>05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93B"/>
                </a:solidFill>
                <a:latin typeface="Arial"/>
              </a:rPr>
              <a:t>Отладка — </a:t>
            </a:r>
            <a:r>
              <a:rPr sz="1250" b="0">
                <a:solidFill>
                  <a:srgbClr val="475569"/>
                </a:solidFill>
                <a:latin typeface="Arial"/>
              </a:rPr>
              <a:t>и функциональное тестирование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9288" y="4937760"/>
            <a:ext cx="33192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19288" y="4937760"/>
            <a:ext cx="73152" cy="13716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7" y="5138928"/>
            <a:ext cx="27706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 dirty="0">
                <a:solidFill>
                  <a:srgbClr val="059669"/>
                </a:solidFill>
                <a:latin typeface="Arial"/>
              </a:rPr>
              <a:t>06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1E293B"/>
                </a:solidFill>
                <a:latin typeface="Arial"/>
              </a:rPr>
              <a:t>Оценка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— </a:t>
            </a:r>
            <a:r>
              <a:rPr sz="1250" b="0" dirty="0" err="1">
                <a:solidFill>
                  <a:srgbClr val="475569"/>
                </a:solidFill>
                <a:latin typeface="Arial"/>
              </a:rPr>
              <a:t>затрат</a:t>
            </a:r>
            <a:r>
              <a:rPr sz="12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475569"/>
                </a:solidFill>
                <a:latin typeface="Arial"/>
              </a:rPr>
              <a:t>на</a:t>
            </a:r>
            <a:r>
              <a:rPr sz="12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475569"/>
                </a:solidFill>
                <a:latin typeface="Arial"/>
              </a:rPr>
              <a:t>разработку</a:t>
            </a:r>
            <a:r>
              <a:rPr sz="12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475569"/>
                </a:solidFill>
                <a:latin typeface="Arial"/>
              </a:rPr>
              <a:t>по</a:t>
            </a:r>
            <a:r>
              <a:rPr sz="1250" b="0" dirty="0">
                <a:solidFill>
                  <a:srgbClr val="475569"/>
                </a:solidFill>
                <a:latin typeface="Arial"/>
              </a:rPr>
              <a:t> COCOMO 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ВИДЫ РАБОТ  ·  1 ИЗ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dirty="0" err="1">
                <a:solidFill>
                  <a:srgbClr val="1E293B"/>
                </a:solidFill>
                <a:latin typeface="Arial"/>
              </a:rPr>
              <a:t>Анализ</a:t>
            </a:r>
            <a:r>
              <a:rPr sz="3000" b="1" i="0" dirty="0">
                <a:solidFill>
                  <a:srgbClr val="1E293B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1E293B"/>
                </a:solidFill>
                <a:latin typeface="Arial"/>
              </a:rPr>
              <a:t>предметной</a:t>
            </a:r>
            <a:r>
              <a:rPr sz="3000" b="1" i="0" dirty="0">
                <a:solidFill>
                  <a:srgbClr val="1E293B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1E293B"/>
                </a:solidFill>
                <a:latin typeface="Arial"/>
              </a:rPr>
              <a:t>области</a:t>
            </a:r>
            <a:endParaRPr sz="3000" b="1" i="0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6968" y="1481328"/>
            <a:ext cx="137160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4572000" cy="3650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dirty="0" err="1">
                <a:solidFill>
                  <a:srgbClr val="1E293B"/>
                </a:solidFill>
                <a:latin typeface="Arial"/>
              </a:rPr>
              <a:t>Проблема</a:t>
            </a:r>
            <a:r>
              <a:rPr sz="1600" b="1" dirty="0">
                <a:solidFill>
                  <a:srgbClr val="1E293B"/>
                </a:solidFill>
                <a:latin typeface="Arial"/>
              </a:rPr>
              <a:t> «</a:t>
            </a:r>
            <a:r>
              <a:rPr sz="1600" b="1" dirty="0" err="1">
                <a:solidFill>
                  <a:srgbClr val="1E293B"/>
                </a:solidFill>
                <a:latin typeface="Arial"/>
              </a:rPr>
              <a:t>как</a:t>
            </a:r>
            <a:r>
              <a:rPr sz="16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E293B"/>
                </a:solidFill>
                <a:latin typeface="Arial"/>
              </a:rPr>
              <a:t>есть</a:t>
            </a:r>
            <a:r>
              <a:rPr sz="1600" b="1" dirty="0">
                <a:solidFill>
                  <a:srgbClr val="1E293B"/>
                </a:solidFill>
                <a:latin typeface="Arial"/>
              </a:rPr>
              <a:t>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Остатки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ведут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в Excel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или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на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бумаге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Нет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автоматической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подсветки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дефицита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Заявки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поставщикам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собираются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вручную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Задержки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поставок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и «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выпадающие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»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позиции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spcBef>
                <a:spcPts val="1200"/>
              </a:spcBef>
              <a:spcAft>
                <a:spcPts val="800"/>
              </a:spcAft>
            </a:pPr>
            <a:r>
              <a:rPr sz="1600" b="1" dirty="0" err="1">
                <a:solidFill>
                  <a:srgbClr val="1E293B"/>
                </a:solidFill>
                <a:latin typeface="Arial"/>
              </a:rPr>
              <a:t>Что</a:t>
            </a:r>
            <a:r>
              <a:rPr sz="16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E293B"/>
                </a:solidFill>
                <a:latin typeface="Arial"/>
              </a:rPr>
              <a:t>сделано</a:t>
            </a:r>
            <a:endParaRPr sz="1600" b="1" dirty="0">
              <a:solidFill>
                <a:srgbClr val="1E293B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Описана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предметная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область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магазина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Выделены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участники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администратор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, </a:t>
            </a:r>
            <a:endParaRPr lang="en-US"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dirty="0" err="1">
                <a:solidFill>
                  <a:srgbClr val="475569"/>
                </a:solidFill>
                <a:latin typeface="Arial"/>
              </a:rPr>
              <a:t>товаровед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директор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Построена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модель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процесса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IDEF0 «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как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есть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Сформулированы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цель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и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задачи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системы</a:t>
            </a:r>
            <a:endParaRPr sz="1300" b="0" dirty="0">
              <a:solidFill>
                <a:srgbClr val="475569"/>
              </a:solidFill>
              <a:latin typeface="Arial"/>
            </a:endParaRPr>
          </a:p>
        </p:txBody>
      </p:sp>
      <p:pic>
        <p:nvPicPr>
          <p:cNvPr id="12" name="Picture 11" descr="idef0_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407" y="1303700"/>
            <a:ext cx="6548153" cy="450110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669280" y="623620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4748B"/>
                </a:solidFill>
                <a:latin typeface="Arial"/>
              </a:rPr>
              <a:t>Рисунок — Модель исходного процесса складского учёта (IDEF0, «как есть»)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ВИДЫ РАБОТ  ·  2 ИЗ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Arial"/>
              </a:rPr>
              <a:t>Проектирование информационной системы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5</a:t>
            </a:r>
          </a:p>
        </p:txBody>
      </p:sp>
      <p:pic>
        <p:nvPicPr>
          <p:cNvPr id="11" name="Picture 10" descr="idef0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63" y="1312752"/>
            <a:ext cx="4916717" cy="353356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12" name="Picture 11" descr="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837" y="1312752"/>
            <a:ext cx="5105984" cy="353356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68680" y="49560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4748B"/>
                </a:solidFill>
                <a:latin typeface="Arial"/>
              </a:rPr>
              <a:t>Функциональная модель «как должно быть»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95604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4748B"/>
                </a:solidFill>
                <a:latin typeface="Arial"/>
              </a:rPr>
              <a:t>Диаграмма вариантов использования (UML Use Case)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349240"/>
            <a:ext cx="10460736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5349240"/>
            <a:ext cx="73152" cy="8686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5486400"/>
            <a:ext cx="9784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rial"/>
              </a:rPr>
              <a:t>Роли системы:  </a:t>
            </a:r>
            <a:r>
              <a:rPr sz="1250" b="0">
                <a:solidFill>
                  <a:srgbClr val="475569"/>
                </a:solidFill>
                <a:latin typeface="Arial"/>
              </a:rPr>
              <a:t>Администратор — учётные записи и роли   ·   Товаровед — каталог, остатки, заявки   ·   Директор — сводные показатели и отчёты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ВИДЫ РАБОТ  ·  3 ИЗ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Arial"/>
              </a:rPr>
              <a:t>Проектирование базы данных (3НФ)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1481328"/>
            <a:ext cx="137160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6</a:t>
            </a:r>
          </a:p>
        </p:txBody>
      </p:sp>
      <p:pic>
        <p:nvPicPr>
          <p:cNvPr id="11" name="Picture 10" descr="er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58474"/>
            <a:ext cx="6492240" cy="423833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68680" y="623620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4748B"/>
                </a:solidFill>
                <a:latin typeface="Arial"/>
              </a:rPr>
              <a:t>Рисунок — ER-диаграмма базы данных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1783080"/>
            <a:ext cx="37033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1783080"/>
            <a:ext cx="73152" cy="44348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79" y="1965960"/>
            <a:ext cx="3108960" cy="2421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dirty="0">
                <a:solidFill>
                  <a:srgbClr val="1E293B"/>
                </a:solidFill>
                <a:latin typeface="Arial"/>
              </a:rPr>
              <a:t>7 </a:t>
            </a:r>
            <a:r>
              <a:rPr sz="1500" b="1" dirty="0" err="1">
                <a:solidFill>
                  <a:srgbClr val="1E293B"/>
                </a:solidFill>
                <a:latin typeface="Arial"/>
              </a:rPr>
              <a:t>таблиц</a:t>
            </a:r>
            <a:r>
              <a:rPr sz="1500" b="1" dirty="0">
                <a:solidFill>
                  <a:srgbClr val="1E293B"/>
                </a:solidFill>
                <a:latin typeface="Arial"/>
              </a:rPr>
              <a:t> в 3-й </a:t>
            </a:r>
            <a:r>
              <a:rPr sz="1500" b="1" dirty="0" err="1">
                <a:solidFill>
                  <a:srgbClr val="1E293B"/>
                </a:solidFill>
                <a:latin typeface="Arial"/>
              </a:rPr>
              <a:t>нормальной</a:t>
            </a:r>
            <a:r>
              <a:rPr sz="15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E293B"/>
                </a:solidFill>
                <a:latin typeface="Arial"/>
              </a:rPr>
              <a:t>форме</a:t>
            </a:r>
            <a:endParaRPr sz="1500" b="1" dirty="0">
              <a:solidFill>
                <a:srgbClr val="1E293B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200" b="1" dirty="0">
                <a:solidFill>
                  <a:srgbClr val="334155"/>
                </a:solidFill>
                <a:latin typeface="Arial"/>
              </a:rPr>
              <a:t>categories</a:t>
            </a:r>
            <a:r>
              <a:rPr sz="1200" b="0" dirty="0">
                <a:solidFill>
                  <a:srgbClr val="64748B"/>
                </a:solidFill>
                <a:latin typeface="Arial"/>
              </a:rPr>
              <a:t>  —  </a:t>
            </a:r>
            <a:r>
              <a:rPr sz="1200" b="0" dirty="0" err="1">
                <a:solidFill>
                  <a:srgbClr val="475569"/>
                </a:solidFill>
                <a:latin typeface="Arial"/>
              </a:rPr>
              <a:t>категории</a:t>
            </a:r>
            <a:endParaRPr sz="12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200" b="1" dirty="0">
                <a:solidFill>
                  <a:srgbClr val="334155"/>
                </a:solidFill>
                <a:latin typeface="Arial"/>
              </a:rPr>
              <a:t>suppliers</a:t>
            </a:r>
            <a:r>
              <a:rPr sz="1200" b="0" dirty="0">
                <a:solidFill>
                  <a:srgbClr val="64748B"/>
                </a:solidFill>
                <a:latin typeface="Arial"/>
              </a:rPr>
              <a:t>  —  </a:t>
            </a:r>
            <a:r>
              <a:rPr sz="1200" b="0" dirty="0" err="1">
                <a:solidFill>
                  <a:srgbClr val="475569"/>
                </a:solidFill>
                <a:latin typeface="Arial"/>
              </a:rPr>
              <a:t>поставщики</a:t>
            </a:r>
            <a:endParaRPr sz="12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200" b="1" dirty="0">
                <a:solidFill>
                  <a:srgbClr val="334155"/>
                </a:solidFill>
                <a:latin typeface="Arial"/>
              </a:rPr>
              <a:t>products</a:t>
            </a:r>
            <a:r>
              <a:rPr sz="1200" b="0" dirty="0">
                <a:solidFill>
                  <a:srgbClr val="64748B"/>
                </a:solidFill>
                <a:latin typeface="Arial"/>
              </a:rPr>
              <a:t>  —  </a:t>
            </a:r>
            <a:r>
              <a:rPr sz="1200" b="0" dirty="0" err="1">
                <a:solidFill>
                  <a:srgbClr val="475569"/>
                </a:solidFill>
                <a:latin typeface="Arial"/>
              </a:rPr>
              <a:t>товары</a:t>
            </a:r>
            <a:endParaRPr sz="12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200" b="1" dirty="0">
                <a:solidFill>
                  <a:srgbClr val="334155"/>
                </a:solidFill>
                <a:latin typeface="Arial"/>
              </a:rPr>
              <a:t>stock</a:t>
            </a:r>
            <a:r>
              <a:rPr sz="1200" b="0" dirty="0">
                <a:solidFill>
                  <a:srgbClr val="64748B"/>
                </a:solidFill>
                <a:latin typeface="Arial"/>
              </a:rPr>
              <a:t>  —  </a:t>
            </a:r>
            <a:r>
              <a:rPr sz="1200" b="0" dirty="0" err="1">
                <a:solidFill>
                  <a:srgbClr val="475569"/>
                </a:solidFill>
                <a:latin typeface="Arial"/>
              </a:rPr>
              <a:t>остатки</a:t>
            </a:r>
            <a:endParaRPr sz="12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200" b="1" dirty="0">
                <a:solidFill>
                  <a:srgbClr val="334155"/>
                </a:solidFill>
                <a:latin typeface="Arial"/>
              </a:rPr>
              <a:t>orders</a:t>
            </a:r>
            <a:r>
              <a:rPr sz="1200" b="0" dirty="0">
                <a:solidFill>
                  <a:srgbClr val="64748B"/>
                </a:solidFill>
                <a:latin typeface="Arial"/>
              </a:rPr>
              <a:t>  —  </a:t>
            </a:r>
            <a:r>
              <a:rPr sz="1200" b="0" dirty="0" err="1">
                <a:solidFill>
                  <a:srgbClr val="475569"/>
                </a:solidFill>
                <a:latin typeface="Arial"/>
              </a:rPr>
              <a:t>заявки</a:t>
            </a:r>
            <a:endParaRPr sz="12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200" b="1" dirty="0" err="1">
                <a:solidFill>
                  <a:srgbClr val="334155"/>
                </a:solidFill>
                <a:latin typeface="Arial"/>
              </a:rPr>
              <a:t>order_items</a:t>
            </a:r>
            <a:r>
              <a:rPr sz="1200" b="0" dirty="0">
                <a:solidFill>
                  <a:srgbClr val="64748B"/>
                </a:solidFill>
                <a:latin typeface="Arial"/>
              </a:rPr>
              <a:t>  —  </a:t>
            </a:r>
            <a:r>
              <a:rPr sz="1200" b="0" dirty="0" err="1">
                <a:solidFill>
                  <a:srgbClr val="475569"/>
                </a:solidFill>
                <a:latin typeface="Arial"/>
              </a:rPr>
              <a:t>позиции</a:t>
            </a:r>
            <a:r>
              <a:rPr sz="12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Arial"/>
              </a:rPr>
              <a:t>заявок</a:t>
            </a:r>
            <a:endParaRPr sz="12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200" b="1" dirty="0">
                <a:solidFill>
                  <a:srgbClr val="334155"/>
                </a:solidFill>
                <a:latin typeface="Arial"/>
              </a:rPr>
              <a:t>users</a:t>
            </a:r>
            <a:r>
              <a:rPr sz="1200" b="0" dirty="0">
                <a:solidFill>
                  <a:srgbClr val="64748B"/>
                </a:solidFill>
                <a:latin typeface="Arial"/>
              </a:rPr>
              <a:t>  —  </a:t>
            </a:r>
            <a:r>
              <a:rPr sz="1200" b="0" dirty="0" err="1">
                <a:solidFill>
                  <a:srgbClr val="475569"/>
                </a:solidFill>
                <a:latin typeface="Arial"/>
              </a:rPr>
              <a:t>пользователи</a:t>
            </a:r>
            <a:endParaRPr sz="1200" b="0" dirty="0">
              <a:solidFill>
                <a:srgbClr val="47556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ВИДЫ РАБОТ  ·  4 ИЗ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Arial"/>
              </a:rPr>
              <a:t>Разработка интерфейса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" y="1216485"/>
            <a:ext cx="137160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7</a:t>
            </a:r>
          </a:p>
        </p:txBody>
      </p:sp>
      <p:pic>
        <p:nvPicPr>
          <p:cNvPr id="11" name="Picture 10" descr="fig_4_2_dashboard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372" y="1266777"/>
            <a:ext cx="5259880" cy="3652695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12" name="Picture 11" descr="fig_3_4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151" y="121244"/>
            <a:ext cx="2182146" cy="472507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68680" y="4956048"/>
            <a:ext cx="7452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 dirty="0" err="1">
                <a:solidFill>
                  <a:srgbClr val="64748B"/>
                </a:solidFill>
                <a:latin typeface="Arial"/>
              </a:rPr>
              <a:t>Дашборд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: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товары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,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дефицит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,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заявки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,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стоимость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запасов</a:t>
            </a:r>
            <a:endParaRPr sz="950" b="0" i="1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11624" y="4965192"/>
            <a:ext cx="27432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950" b="0" i="1" dirty="0" err="1">
                <a:solidFill>
                  <a:srgbClr val="64748B"/>
                </a:solidFill>
                <a:latin typeface="Arial"/>
              </a:rPr>
              <a:t>Адаптив</a:t>
            </a:r>
            <a:r>
              <a:rPr lang="ru-RU" sz="950" b="0" i="1" dirty="0">
                <a:solidFill>
                  <a:srgbClr val="64748B"/>
                </a:solidFill>
                <a:latin typeface="Arial"/>
              </a:rPr>
              <a:t> под </a:t>
            </a:r>
            <a:r>
              <a:rPr lang="ru-RU" sz="950" i="1" dirty="0">
                <a:solidFill>
                  <a:srgbClr val="64748B"/>
                </a:solidFill>
                <a:latin typeface="Arial"/>
              </a:rPr>
              <a:t>смартфоны</a:t>
            </a:r>
            <a:endParaRPr lang="en-US" sz="950" b="0" i="1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68680" y="5349240"/>
            <a:ext cx="10460736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5349240"/>
            <a:ext cx="73152" cy="8686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5708688"/>
            <a:ext cx="9784080" cy="195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 err="1">
                <a:solidFill>
                  <a:srgbClr val="1E293B"/>
                </a:solidFill>
                <a:latin typeface="Arial"/>
              </a:rPr>
              <a:t>Дизайн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:</a:t>
            </a:r>
            <a:endParaRPr sz="1250" b="0" dirty="0">
              <a:solidFill>
                <a:srgbClr val="47556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3774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59669"/>
                </a:solidFill>
                <a:latin typeface="Arial"/>
              </a:rPr>
              <a:t>ВИДЫ РАБОТ  ·  5 ИЗ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5593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dirty="0" err="1">
                <a:solidFill>
                  <a:srgbClr val="1E293B"/>
                </a:solidFill>
                <a:latin typeface="Arial"/>
              </a:rPr>
              <a:t>Реализация</a:t>
            </a:r>
            <a:r>
              <a:rPr sz="3000" b="1" i="0" dirty="0">
                <a:solidFill>
                  <a:srgbClr val="1E293B"/>
                </a:solidFill>
                <a:latin typeface="Arial"/>
              </a:rPr>
              <a:t>, </a:t>
            </a:r>
            <a:r>
              <a:rPr sz="3000" b="1" i="0" dirty="0" err="1">
                <a:solidFill>
                  <a:srgbClr val="1E293B"/>
                </a:solidFill>
                <a:latin typeface="Arial"/>
              </a:rPr>
              <a:t>заявки</a:t>
            </a:r>
            <a:r>
              <a:rPr sz="3000" b="1" i="0" dirty="0">
                <a:solidFill>
                  <a:srgbClr val="1E293B"/>
                </a:solidFill>
                <a:latin typeface="Arial"/>
              </a:rPr>
              <a:t> и </a:t>
            </a:r>
            <a:r>
              <a:rPr sz="3000" b="1" i="0" dirty="0" err="1">
                <a:solidFill>
                  <a:srgbClr val="1E293B"/>
                </a:solidFill>
                <a:latin typeface="Arial"/>
              </a:rPr>
              <a:t>тестирование</a:t>
            </a:r>
            <a:endParaRPr sz="3000" b="1" i="0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8</a:t>
            </a:r>
          </a:p>
        </p:txBody>
      </p:sp>
      <p:pic>
        <p:nvPicPr>
          <p:cNvPr id="11" name="Picture 10" descr="fig_3_3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971549"/>
            <a:ext cx="4613236" cy="320363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12" name="Picture 11" descr="fig_4_5_deficit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870893"/>
            <a:ext cx="4761217" cy="330640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76375" y="4213573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 dirty="0" err="1">
                <a:solidFill>
                  <a:srgbClr val="64748B"/>
                </a:solidFill>
                <a:latin typeface="Arial"/>
              </a:rPr>
              <a:t>Заявки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поставщикам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: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статусы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 «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новая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 →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отправлена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 →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получена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4232133"/>
            <a:ext cx="5166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 dirty="0" err="1">
                <a:solidFill>
                  <a:srgbClr val="64748B"/>
                </a:solidFill>
                <a:latin typeface="Arial"/>
              </a:rPr>
              <a:t>Отчёт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 о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дефиците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 с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экспортом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 в PDF / Excel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526280"/>
            <a:ext cx="5074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4526280"/>
            <a:ext cx="73152" cy="16916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681728"/>
            <a:ext cx="45262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E293B"/>
                </a:solidFill>
                <a:latin typeface="Arial"/>
              </a:rPr>
              <a:t>Технологии</a:t>
            </a:r>
            <a:endParaRPr sz="1400" b="1" dirty="0">
              <a:solidFill>
                <a:srgbClr val="1E293B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475569"/>
                </a:solidFill>
                <a:latin typeface="Arial"/>
              </a:rPr>
              <a:t>HTML5 · CSS3 · Tailwind CSS · JavaScript ES6 · </a:t>
            </a:r>
            <a:r>
              <a:rPr sz="1200" b="0" i="0" dirty="0" err="1">
                <a:solidFill>
                  <a:srgbClr val="475569"/>
                </a:solidFill>
                <a:latin typeface="Arial"/>
              </a:rPr>
              <a:t>Lucide</a:t>
            </a:r>
            <a:r>
              <a:rPr sz="1200" b="0" i="0" dirty="0">
                <a:solidFill>
                  <a:srgbClr val="475569"/>
                </a:solidFill>
                <a:latin typeface="Arial"/>
              </a:rPr>
              <a:t> · </a:t>
            </a:r>
            <a:r>
              <a:rPr sz="1200" b="0" i="0" dirty="0" err="1">
                <a:solidFill>
                  <a:srgbClr val="475569"/>
                </a:solidFill>
                <a:latin typeface="Arial"/>
              </a:rPr>
              <a:t>jsPDF</a:t>
            </a:r>
            <a:r>
              <a:rPr sz="1200" b="0" i="0" dirty="0">
                <a:solidFill>
                  <a:srgbClr val="475569"/>
                </a:solidFill>
                <a:latin typeface="Arial"/>
              </a:rPr>
              <a:t> / </a:t>
            </a:r>
            <a:r>
              <a:rPr sz="1200" b="0" i="0" dirty="0" err="1">
                <a:solidFill>
                  <a:srgbClr val="475569"/>
                </a:solidFill>
                <a:latin typeface="Arial"/>
              </a:rPr>
              <a:t>SheetJS</a:t>
            </a:r>
            <a:r>
              <a:rPr sz="1200" b="0" i="0" dirty="0">
                <a:solidFill>
                  <a:srgbClr val="475569"/>
                </a:solidFill>
                <a:latin typeface="Arial"/>
              </a:rPr>
              <a:t> · </a:t>
            </a:r>
            <a:r>
              <a:rPr sz="1200" b="0" i="0" dirty="0" err="1">
                <a:solidFill>
                  <a:srgbClr val="475569"/>
                </a:solidFill>
                <a:latin typeface="Arial"/>
              </a:rPr>
              <a:t>localStorage</a:t>
            </a:r>
            <a:endParaRPr sz="1200" b="0" i="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72200" y="4526280"/>
            <a:ext cx="5166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4526280"/>
            <a:ext cx="73152" cy="16916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4681728"/>
            <a:ext cx="457200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Arial"/>
              </a:rPr>
              <a:t>Функциональное тестирование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6 сценариев: вход, добавление товара, поиск и фильтр, создание заявки, получение, экспорт.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59669"/>
                </a:solidFill>
                <a:latin typeface="Arial"/>
              </a:rPr>
              <a:t>СЛАЙД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dirty="0" err="1">
                <a:solidFill>
                  <a:srgbClr val="1E293B"/>
                </a:solidFill>
                <a:latin typeface="Arial"/>
              </a:rPr>
              <a:t>Оценка</a:t>
            </a:r>
            <a:r>
              <a:rPr sz="3000" b="1" i="0" dirty="0">
                <a:solidFill>
                  <a:srgbClr val="1E293B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1E293B"/>
                </a:solidFill>
                <a:latin typeface="Arial"/>
              </a:rPr>
              <a:t>затрат</a:t>
            </a:r>
            <a:r>
              <a:rPr sz="3000" b="1" i="0" dirty="0">
                <a:solidFill>
                  <a:srgbClr val="1E293B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1E293B"/>
                </a:solidFill>
                <a:latin typeface="Arial"/>
              </a:rPr>
              <a:t>на</a:t>
            </a:r>
            <a:r>
              <a:rPr sz="3000" b="1" i="0" dirty="0">
                <a:solidFill>
                  <a:srgbClr val="1E293B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1E293B"/>
                </a:solidFill>
                <a:latin typeface="Arial"/>
              </a:rPr>
              <a:t>разработку</a:t>
            </a:r>
            <a:r>
              <a:rPr sz="3000" b="1" i="0" dirty="0">
                <a:solidFill>
                  <a:srgbClr val="1E293B"/>
                </a:solidFill>
                <a:latin typeface="Arial"/>
              </a:rPr>
              <a:t> (COCOMO II)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1481328"/>
            <a:ext cx="137160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71016" y="3909060"/>
            <a:ext cx="443484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9487" y="1805940"/>
            <a:ext cx="51663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29487" y="1805940"/>
            <a:ext cx="73152" cy="44348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26667" y="1945001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 dirty="0" err="1">
                <a:solidFill>
                  <a:srgbClr val="1E293B"/>
                </a:solidFill>
                <a:latin typeface="Arial"/>
              </a:rPr>
              <a:t>Итоговая</a:t>
            </a:r>
            <a:r>
              <a:rPr sz="17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1E293B"/>
                </a:solidFill>
                <a:latin typeface="Arial"/>
              </a:rPr>
              <a:t>смета</a:t>
            </a:r>
            <a:endParaRPr sz="1700" b="1" dirty="0">
              <a:solidFill>
                <a:srgbClr val="1E293B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dirty="0" err="1">
                <a:solidFill>
                  <a:srgbClr val="475569"/>
                </a:solidFill>
                <a:latin typeface="Arial"/>
              </a:rPr>
              <a:t>Трудозатраты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   1 350 000 ₽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dirty="0" err="1">
                <a:solidFill>
                  <a:srgbClr val="475569"/>
                </a:solidFill>
                <a:latin typeface="Arial"/>
              </a:rPr>
              <a:t>Прототипирование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   30 000 ₽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dirty="0" err="1">
                <a:solidFill>
                  <a:srgbClr val="475569"/>
                </a:solidFill>
                <a:latin typeface="Arial"/>
              </a:rPr>
              <a:t>Дизайн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и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инфраструктура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   20 000 ₽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dirty="0" err="1">
                <a:solidFill>
                  <a:srgbClr val="475569"/>
                </a:solidFill>
                <a:latin typeface="Arial"/>
              </a:rPr>
              <a:t>Статический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хостинг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   0 ₽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1" dirty="0" err="1">
                <a:solidFill>
                  <a:srgbClr val="1E293B"/>
                </a:solidFill>
                <a:latin typeface="Arial"/>
              </a:rPr>
              <a:t>Итого</a:t>
            </a:r>
            <a:r>
              <a:rPr sz="1600" b="1" dirty="0">
                <a:solidFill>
                  <a:srgbClr val="1E293B"/>
                </a:solidFill>
                <a:latin typeface="Arial"/>
              </a:rPr>
              <a:t>:  </a:t>
            </a:r>
            <a:r>
              <a:rPr sz="1800" b="1" dirty="0">
                <a:solidFill>
                  <a:srgbClr val="047857"/>
                </a:solidFill>
                <a:latin typeface="Arial"/>
              </a:rPr>
              <a:t>1 400 000 ₽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100" b="0" i="1" dirty="0" err="1">
                <a:solidFill>
                  <a:srgbClr val="64748B"/>
                </a:solidFill>
                <a:latin typeface="Arial"/>
              </a:rPr>
              <a:t>Расчёт</a:t>
            </a:r>
            <a:r>
              <a:rPr sz="1100" b="0" i="1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b="0" i="1" dirty="0" err="1">
                <a:solidFill>
                  <a:srgbClr val="64748B"/>
                </a:solidFill>
                <a:latin typeface="Arial"/>
              </a:rPr>
              <a:t>ориентировочный</a:t>
            </a:r>
            <a:r>
              <a:rPr sz="1100" b="0" i="1" dirty="0">
                <a:solidFill>
                  <a:srgbClr val="64748B"/>
                </a:solidFill>
                <a:latin typeface="Arial"/>
              </a:rPr>
              <a:t>, </a:t>
            </a:r>
            <a:r>
              <a:rPr sz="1100" b="0" i="1" dirty="0" err="1">
                <a:solidFill>
                  <a:srgbClr val="64748B"/>
                </a:solidFill>
                <a:latin typeface="Arial"/>
              </a:rPr>
              <a:t>служит</a:t>
            </a:r>
            <a:r>
              <a:rPr sz="1100" b="0" i="1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b="0" i="1" dirty="0" err="1">
                <a:solidFill>
                  <a:srgbClr val="64748B"/>
                </a:solidFill>
                <a:latin typeface="Arial"/>
              </a:rPr>
              <a:t>экономическим</a:t>
            </a:r>
            <a:r>
              <a:rPr sz="1100" b="0" i="1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b="0" i="1" dirty="0" err="1">
                <a:solidFill>
                  <a:srgbClr val="64748B"/>
                </a:solidFill>
                <a:latin typeface="Arial"/>
              </a:rPr>
              <a:t>обоснованием</a:t>
            </a:r>
            <a:r>
              <a:rPr sz="1100" b="0" i="1" dirty="0">
                <a:solidFill>
                  <a:srgbClr val="64748B"/>
                </a:solidFill>
                <a:latin typeface="Arial"/>
              </a:rPr>
              <a:t> </a:t>
            </a:r>
            <a:r>
              <a:rPr sz="1100" b="0" i="1" dirty="0" err="1">
                <a:solidFill>
                  <a:srgbClr val="64748B"/>
                </a:solidFill>
                <a:latin typeface="Arial"/>
              </a:rPr>
              <a:t>проекта</a:t>
            </a:r>
            <a:r>
              <a:rPr sz="1100" b="0" i="1" dirty="0">
                <a:solidFill>
                  <a:srgbClr val="64748B"/>
                </a:solidFill>
                <a:latin typeface="Arial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4160520"/>
            <a:ext cx="45262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СЛАЙД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dirty="0" err="1">
                <a:solidFill>
                  <a:srgbClr val="1E293B"/>
                </a:solidFill>
                <a:latin typeface="Arial"/>
              </a:rPr>
              <a:t>Успехи</a:t>
            </a:r>
            <a:r>
              <a:rPr sz="3000" b="1" i="0" dirty="0">
                <a:solidFill>
                  <a:srgbClr val="1E293B"/>
                </a:solidFill>
                <a:latin typeface="Arial"/>
              </a:rPr>
              <a:t> и </a:t>
            </a:r>
            <a:r>
              <a:rPr sz="3000" b="1" i="0" dirty="0" err="1">
                <a:solidFill>
                  <a:srgbClr val="1E293B"/>
                </a:solidFill>
                <a:latin typeface="Arial"/>
              </a:rPr>
              <a:t>сложности</a:t>
            </a:r>
            <a:endParaRPr sz="3000" b="1" i="0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6968" y="1481328"/>
            <a:ext cx="137160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783080"/>
            <a:ext cx="50749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1783080"/>
            <a:ext cx="73152" cy="44348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2011680"/>
            <a:ext cx="4480560" cy="964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dirty="0" err="1">
                <a:solidFill>
                  <a:srgbClr val="047857"/>
                </a:solidFill>
                <a:latin typeface="Arial"/>
              </a:rPr>
              <a:t>Что</a:t>
            </a:r>
            <a:r>
              <a:rPr sz="1800" b="1" dirty="0">
                <a:solidFill>
                  <a:srgbClr val="047857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047857"/>
                </a:solidFill>
                <a:latin typeface="Arial"/>
              </a:rPr>
              <a:t>было</a:t>
            </a:r>
            <a:r>
              <a:rPr sz="1800" b="1" dirty="0">
                <a:solidFill>
                  <a:srgbClr val="047857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047857"/>
                </a:solidFill>
                <a:latin typeface="Arial"/>
              </a:rPr>
              <a:t>легко</a:t>
            </a:r>
            <a:endParaRPr sz="1800" b="1" dirty="0">
              <a:solidFill>
                <a:srgbClr val="047857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Освоен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стек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HTML5 / CSS3 / JavaScript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CRUD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товаров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и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фильтры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—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быстро</a:t>
            </a:r>
            <a:endParaRPr sz="1300" b="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51663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783080"/>
            <a:ext cx="73152" cy="44348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80"/>
            <a:ext cx="4572000" cy="1564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dirty="0">
                <a:solidFill>
                  <a:srgbClr val="DC2626"/>
                </a:solidFill>
                <a:latin typeface="Arial"/>
              </a:rPr>
              <a:t>В </a:t>
            </a:r>
            <a:r>
              <a:rPr sz="1800" b="1" dirty="0" err="1">
                <a:solidFill>
                  <a:srgbClr val="DC2626"/>
                </a:solidFill>
                <a:latin typeface="Arial"/>
              </a:rPr>
              <a:t>чём</a:t>
            </a:r>
            <a:r>
              <a:rPr sz="1800" b="1" dirty="0">
                <a:solidFill>
                  <a:srgbClr val="DC2626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DC2626"/>
                </a:solidFill>
                <a:latin typeface="Arial"/>
              </a:rPr>
              <a:t>были</a:t>
            </a:r>
            <a:r>
              <a:rPr sz="1800" b="1" dirty="0">
                <a:solidFill>
                  <a:srgbClr val="DC2626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DC2626"/>
                </a:solidFill>
                <a:latin typeface="Arial"/>
              </a:rPr>
              <a:t>проблемы</a:t>
            </a:r>
            <a:endParaRPr sz="1800" b="1" dirty="0">
              <a:solidFill>
                <a:srgbClr val="DC2626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Кириллица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в PDF —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решил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через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шрифт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DejaVuSans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Связь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заявки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и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остатков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при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приёмке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Валидация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полей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и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уникальность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артикула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Ограничение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прототипа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нет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серверной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БД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СЛАЙД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Arial"/>
              </a:rPr>
              <a:t>Выводы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1481328"/>
            <a:ext cx="137160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783080"/>
            <a:ext cx="1046073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1783080"/>
            <a:ext cx="73152" cy="2377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2011680"/>
            <a:ext cx="96926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dirty="0" err="1">
                <a:solidFill>
                  <a:srgbClr val="1E293B"/>
                </a:solidFill>
                <a:latin typeface="Arial"/>
              </a:rPr>
              <a:t>Результат</a:t>
            </a:r>
            <a:r>
              <a:rPr sz="18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Arial"/>
              </a:rPr>
              <a:t>практики</a:t>
            </a:r>
            <a:endParaRPr sz="1800" b="1" dirty="0">
              <a:solidFill>
                <a:srgbClr val="1E293B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Проанализирована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предметная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область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и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построены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функциональные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модели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(IDEF0, UML)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Спроектирована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база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данных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из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7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таблиц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в 3НФ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Разработано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и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протестировано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веб-приложение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«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Галамарт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Склад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Выполнена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оценка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затрат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по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COCOMO II —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около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1,4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млн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343400"/>
            <a:ext cx="5074920" cy="1874519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4343400"/>
            <a:ext cx="73152" cy="1874519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4526280"/>
            <a:ext cx="44805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47857"/>
                </a:solidFill>
                <a:latin typeface="Arial"/>
              </a:rPr>
              <a:t>Практическая значимость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Arial"/>
              </a:rPr>
              <a:t>Приложение сокращает время поиска дефицитных позиций и подготовки заявок поставщикам.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43400"/>
            <a:ext cx="516636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4343400"/>
            <a:ext cx="73152" cy="187451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526280"/>
            <a:ext cx="45720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dirty="0" err="1">
                <a:solidFill>
                  <a:srgbClr val="1E293B"/>
                </a:solidFill>
                <a:latin typeface="Arial"/>
              </a:rPr>
              <a:t>Перспективы</a:t>
            </a:r>
            <a:r>
              <a:rPr sz="15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E293B"/>
                </a:solidFill>
                <a:latin typeface="Arial"/>
              </a:rPr>
              <a:t>развития</a:t>
            </a:r>
            <a:endParaRPr sz="1500" b="1" dirty="0">
              <a:solidFill>
                <a:srgbClr val="1E293B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 err="1">
                <a:solidFill>
                  <a:srgbClr val="475569"/>
                </a:solidFill>
                <a:latin typeface="Arial"/>
              </a:rPr>
              <a:t>Серверная</a:t>
            </a:r>
            <a:r>
              <a:rPr sz="1250" b="0" i="0" dirty="0">
                <a:solidFill>
                  <a:srgbClr val="475569"/>
                </a:solidFill>
                <a:latin typeface="Arial"/>
              </a:rPr>
              <a:t> СУБД (PostgreSQL) и REST API, </a:t>
            </a:r>
            <a:r>
              <a:rPr sz="1250" b="0" i="0" dirty="0" err="1">
                <a:solidFill>
                  <a:srgbClr val="475569"/>
                </a:solidFill>
                <a:latin typeface="Arial"/>
              </a:rPr>
              <a:t>безопасная</a:t>
            </a:r>
            <a:r>
              <a:rPr sz="1250" b="0" i="0" dirty="0">
                <a:solidFill>
                  <a:srgbClr val="475569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475569"/>
                </a:solidFill>
                <a:latin typeface="Arial"/>
              </a:rPr>
              <a:t>авторизация</a:t>
            </a:r>
            <a:r>
              <a:rPr sz="1250" b="0" i="0" dirty="0">
                <a:solidFill>
                  <a:srgbClr val="475569"/>
                </a:solidFill>
                <a:latin typeface="Arial"/>
              </a:rPr>
              <a:t>, </a:t>
            </a:r>
            <a:r>
              <a:rPr sz="1250" b="0" i="0" dirty="0" err="1">
                <a:solidFill>
                  <a:srgbClr val="475569"/>
                </a:solidFill>
                <a:latin typeface="Arial"/>
              </a:rPr>
              <a:t>история</a:t>
            </a:r>
            <a:r>
              <a:rPr sz="1250" b="0" i="0" dirty="0">
                <a:solidFill>
                  <a:srgbClr val="475569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475569"/>
                </a:solidFill>
                <a:latin typeface="Arial"/>
              </a:rPr>
              <a:t>движения</a:t>
            </a:r>
            <a:r>
              <a:rPr sz="1250" b="0" i="0" dirty="0">
                <a:solidFill>
                  <a:srgbClr val="475569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475569"/>
                </a:solidFill>
                <a:latin typeface="Arial"/>
              </a:rPr>
              <a:t>товара</a:t>
            </a:r>
            <a:r>
              <a:rPr sz="1250" b="0" i="0" dirty="0">
                <a:solidFill>
                  <a:srgbClr val="475569"/>
                </a:solidFill>
                <a:latin typeface="Arial"/>
              </a:rPr>
              <a:t>, </a:t>
            </a:r>
            <a:r>
              <a:rPr sz="1250" b="0" i="0" dirty="0" err="1">
                <a:solidFill>
                  <a:srgbClr val="475569"/>
                </a:solidFill>
                <a:latin typeface="Arial"/>
              </a:rPr>
              <a:t>штрихкоды</a:t>
            </a:r>
            <a:r>
              <a:rPr sz="1250" b="0" i="0" dirty="0">
                <a:solidFill>
                  <a:srgbClr val="475569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857</Words>
  <Application>Microsoft Office PowerPoint</Application>
  <PresentationFormat>Широкоэкранный</PresentationFormat>
  <Paragraphs>140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Алена Шлыкова</cp:lastModifiedBy>
  <cp:revision>4</cp:revision>
  <dcterms:created xsi:type="dcterms:W3CDTF">2013-01-27T09:14:16Z</dcterms:created>
  <dcterms:modified xsi:type="dcterms:W3CDTF">2026-10-01T16:34:16Z</dcterms:modified>
  <cp:category/>
</cp:coreProperties>
</file>