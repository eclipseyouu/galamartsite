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828800" cy="868680"/>
          </a:xfrm>
          <a:prstGeom prst="rect">
            <a:avLst/>
          </a:prstGeom>
          <a:noFill/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75569"/>
                </a:solidFill>
                <a:latin typeface="Arial"/>
              </a:rPr>
              <a:t>ЛОГОТИП
КОЛЛЕДЖА</a:t>
            </a:r>
          </a:p>
        </p:txBody>
      </p:sp>
      <p:sp>
        <p:nvSpPr>
          <p:cNvPr id="6" name="Rectangle 5"/>
          <p:cNvSpPr/>
          <p:nvPr/>
        </p:nvSpPr>
        <p:spPr>
          <a:xfrm>
            <a:off x="9811512" y="411480"/>
            <a:ext cx="1828800" cy="868680"/>
          </a:xfrm>
          <a:prstGeom prst="rect">
            <a:avLst/>
          </a:prstGeom>
          <a:noFill/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1512" y="41148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75569"/>
                </a:solidFill>
                <a:latin typeface="Arial"/>
              </a:rPr>
              <a:t>ЛОГОТИП
ПРЕДПРИЯТИЯ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94A3B8"/>
                </a:solidFill>
                <a:latin typeface="Arial"/>
              </a:rPr>
              <a:t>ГБПОУ НСО «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Новосибирский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электромеханический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колледж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64748B"/>
                </a:solidFill>
                <a:latin typeface="Arial"/>
              </a:rPr>
              <a:t>Специальность</a:t>
            </a:r>
            <a:r>
              <a:rPr sz="1200" b="0" i="0" dirty="0">
                <a:solidFill>
                  <a:srgbClr val="64748B"/>
                </a:solidFill>
                <a:latin typeface="Arial"/>
              </a:rPr>
              <a:t> 09.02.07  ·  </a:t>
            </a:r>
            <a:r>
              <a:rPr sz="1200" b="0" i="0" dirty="0" err="1">
                <a:solidFill>
                  <a:srgbClr val="64748B"/>
                </a:solidFill>
                <a:latin typeface="Arial"/>
              </a:rPr>
              <a:t>Информационные</a:t>
            </a:r>
            <a:r>
              <a:rPr sz="1200" b="0" i="0" dirty="0">
                <a:solidFill>
                  <a:srgbClr val="64748B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Arial"/>
              </a:rPr>
              <a:t>системы</a:t>
            </a:r>
            <a:r>
              <a:rPr sz="1200" b="0" i="0" dirty="0">
                <a:solidFill>
                  <a:srgbClr val="64748B"/>
                </a:solidFill>
                <a:latin typeface="Arial"/>
              </a:rPr>
              <a:t> и </a:t>
            </a:r>
            <a:r>
              <a:rPr sz="1200" b="0" i="0" dirty="0" err="1">
                <a:solidFill>
                  <a:srgbClr val="64748B"/>
                </a:solidFill>
                <a:latin typeface="Arial"/>
              </a:rPr>
              <a:t>программирование</a:t>
            </a:r>
            <a:endParaRPr sz="12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8138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 dirty="0">
                <a:solidFill>
                  <a:srgbClr val="FFFFFF"/>
                </a:solidFill>
                <a:latin typeface="Arial"/>
              </a:rPr>
              <a:t>ПРОИЗВОДСТВЕННАЯ ПРАКТИКА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 dirty="0">
                <a:solidFill>
                  <a:srgbClr val="059669"/>
                </a:solidFill>
                <a:latin typeface="Arial"/>
              </a:rPr>
              <a:t>ПМ.11  </a:t>
            </a:r>
            <a:r>
              <a:rPr sz="1900" b="1" i="0" dirty="0" err="1">
                <a:solidFill>
                  <a:srgbClr val="059669"/>
                </a:solidFill>
                <a:latin typeface="Arial"/>
              </a:rPr>
              <a:t>Разработка</a:t>
            </a:r>
            <a:r>
              <a:rPr sz="1900" b="1" i="0" dirty="0">
                <a:solidFill>
                  <a:srgbClr val="059669"/>
                </a:solidFill>
                <a:latin typeface="Arial"/>
              </a:rPr>
              <a:t>, </a:t>
            </a:r>
            <a:r>
              <a:rPr sz="1900" b="1" i="0" dirty="0" err="1">
                <a:solidFill>
                  <a:srgbClr val="059669"/>
                </a:solidFill>
                <a:latin typeface="Arial"/>
              </a:rPr>
              <a:t>администрирование</a:t>
            </a:r>
            <a:r>
              <a:rPr sz="1900" b="1" i="0" dirty="0">
                <a:solidFill>
                  <a:srgbClr val="059669"/>
                </a:solidFill>
                <a:latin typeface="Arial"/>
              </a:rPr>
              <a:t> и </a:t>
            </a:r>
            <a:r>
              <a:rPr sz="1900" b="1" i="0" dirty="0" err="1">
                <a:solidFill>
                  <a:srgbClr val="059669"/>
                </a:solidFill>
                <a:latin typeface="Arial"/>
              </a:rPr>
              <a:t>защита</a:t>
            </a:r>
            <a:r>
              <a:rPr sz="1900" b="1" i="0" dirty="0">
                <a:solidFill>
                  <a:srgbClr val="059669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059669"/>
                </a:solidFill>
                <a:latin typeface="Arial"/>
              </a:rPr>
              <a:t>баз</a:t>
            </a:r>
            <a:r>
              <a:rPr sz="1900" b="1" i="0" dirty="0">
                <a:solidFill>
                  <a:srgbClr val="059669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059669"/>
                </a:solidFill>
                <a:latin typeface="Arial"/>
              </a:rPr>
              <a:t>данных</a:t>
            </a:r>
            <a:endParaRPr sz="1900" b="1" i="0" dirty="0">
              <a:solidFill>
                <a:srgbClr val="059669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 i="0" dirty="0" err="1">
                <a:solidFill>
                  <a:srgbClr val="CBD5E1"/>
                </a:solidFill>
                <a:latin typeface="Arial"/>
              </a:rPr>
              <a:t>Веб-приложение</a:t>
            </a:r>
            <a:r>
              <a:rPr sz="2000" b="0" i="0" dirty="0">
                <a:solidFill>
                  <a:srgbClr val="CBD5E1"/>
                </a:solidFill>
                <a:latin typeface="Arial"/>
              </a:rPr>
              <a:t> «</a:t>
            </a:r>
            <a:r>
              <a:rPr sz="2000" b="0" i="0" dirty="0" err="1">
                <a:solidFill>
                  <a:srgbClr val="CBD5E1"/>
                </a:solidFill>
                <a:latin typeface="Arial"/>
              </a:rPr>
              <a:t>Галамарт</a:t>
            </a:r>
            <a:r>
              <a:rPr sz="2000" b="0" i="0" dirty="0">
                <a:solidFill>
                  <a:srgbClr val="CBD5E1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CBD5E1"/>
                </a:solidFill>
                <a:latin typeface="Arial"/>
              </a:rPr>
              <a:t>Склад</a:t>
            </a:r>
            <a:r>
              <a:rPr sz="2000" b="0" i="0" dirty="0">
                <a:solidFill>
                  <a:srgbClr val="CBD5E1"/>
                </a:solidFill>
                <a:latin typeface="Arial"/>
              </a:rPr>
              <a:t>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 err="1">
                <a:solidFill>
                  <a:srgbClr val="94A3B8"/>
                </a:solidFill>
                <a:latin typeface="Arial"/>
              </a:rPr>
              <a:t>Учёт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остатков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контроль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дефицита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заявки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поставщикам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и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отчётность</a:t>
            </a:r>
            <a:endParaRPr sz="1300" b="0" i="0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1248" y="5029200"/>
            <a:ext cx="146304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230368"/>
            <a:ext cx="8138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Arial"/>
              </a:rPr>
              <a:t>Период практики:  [ укажите период 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Arial"/>
              </a:rPr>
              <a:t>Место прохождения:  магазин «Галамарт», г. Новосибирск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2606040"/>
            <a:ext cx="2606040" cy="2788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98280" y="2606040"/>
            <a:ext cx="73152" cy="2788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2788920"/>
            <a:ext cx="2194560" cy="1526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059669"/>
                </a:solidFill>
                <a:latin typeface="Arial"/>
              </a:rPr>
              <a:t>ВЫПОЛНИЛ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 dirty="0" err="1">
                <a:solidFill>
                  <a:srgbClr val="FFFFFF"/>
                </a:solidFill>
                <a:latin typeface="Arial"/>
              </a:rPr>
              <a:t>Шлыков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Д.В.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059669"/>
                </a:solidFill>
                <a:latin typeface="Arial"/>
              </a:rPr>
              <a:t>ГРУППА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ru-RU" sz="1600" b="1" i="0" dirty="0">
                <a:solidFill>
                  <a:srgbClr val="FFFFFF"/>
                </a:solidFill>
                <a:latin typeface="Arial"/>
              </a:rPr>
              <a:t>ИСП-431</a:t>
            </a:r>
            <a:endParaRPr sz="1600" b="1" i="0" dirty="0">
              <a:solidFill>
                <a:srgbClr val="FFFFFF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059669"/>
                </a:solidFill>
                <a:latin typeface="Arial"/>
              </a:rPr>
              <a:t>РУКОВОДИТЕЛЬ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Arial"/>
              </a:rPr>
              <a:t>Николаенко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 В.В.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rial"/>
              </a:rPr>
              <a:t>г. Новосибирск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СЛАЙД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Краткая справка о предприятии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51206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783080"/>
            <a:ext cx="73152" cy="44348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01168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 dirty="0" err="1">
                <a:solidFill>
                  <a:srgbClr val="1E293B"/>
                </a:solidFill>
                <a:latin typeface="Arial"/>
              </a:rPr>
              <a:t>Торговая</a:t>
            </a:r>
            <a:r>
              <a:rPr sz="20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E293B"/>
                </a:solidFill>
                <a:latin typeface="Arial"/>
              </a:rPr>
              <a:t>сеть</a:t>
            </a:r>
            <a:r>
              <a:rPr sz="2000" b="1" dirty="0">
                <a:solidFill>
                  <a:srgbClr val="1E293B"/>
                </a:solidFill>
                <a:latin typeface="Arial"/>
              </a:rPr>
              <a:t> «</a:t>
            </a:r>
            <a:r>
              <a:rPr sz="2000" b="1" dirty="0" err="1">
                <a:solidFill>
                  <a:srgbClr val="1E293B"/>
                </a:solidFill>
                <a:latin typeface="Arial"/>
              </a:rPr>
              <a:t>Галамарт</a:t>
            </a:r>
            <a:r>
              <a:rPr sz="2000" b="1" dirty="0">
                <a:solidFill>
                  <a:srgbClr val="1E293B"/>
                </a:solidFill>
                <a:latin typeface="Arial"/>
              </a:rPr>
              <a:t>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dirty="0" err="1">
                <a:solidFill>
                  <a:srgbClr val="334155"/>
                </a:solidFill>
                <a:latin typeface="Arial"/>
              </a:rPr>
              <a:t>Полное</a:t>
            </a:r>
            <a:r>
              <a:rPr sz="1300" b="1" dirty="0">
                <a:solidFill>
                  <a:srgbClr val="334155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334155"/>
                </a:solidFill>
                <a:latin typeface="Arial"/>
              </a:rPr>
              <a:t>название</a:t>
            </a:r>
            <a:r>
              <a:rPr sz="1300" b="1" dirty="0">
                <a:solidFill>
                  <a:srgbClr val="334155"/>
                </a:solidFill>
                <a:latin typeface="Arial"/>
              </a:rPr>
              <a:t>:  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[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укажите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полное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юридическое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название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dirty="0" err="1">
                <a:solidFill>
                  <a:srgbClr val="334155"/>
                </a:solidFill>
                <a:latin typeface="Arial"/>
              </a:rPr>
              <a:t>Место</a:t>
            </a:r>
            <a:r>
              <a:rPr sz="1300" b="1" dirty="0">
                <a:solidFill>
                  <a:srgbClr val="334155"/>
                </a:solidFill>
                <a:latin typeface="Arial"/>
              </a:rPr>
              <a:t>:  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г.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Новосибирск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ул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.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Военная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, 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dirty="0" err="1">
                <a:solidFill>
                  <a:srgbClr val="334155"/>
                </a:solidFill>
                <a:latin typeface="Arial"/>
              </a:rPr>
              <a:t>Дата</a:t>
            </a:r>
            <a:r>
              <a:rPr sz="1300" b="1" dirty="0">
                <a:solidFill>
                  <a:srgbClr val="334155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334155"/>
                </a:solidFill>
                <a:latin typeface="Arial"/>
              </a:rPr>
              <a:t>основания</a:t>
            </a:r>
            <a:r>
              <a:rPr sz="1300" b="1" dirty="0">
                <a:solidFill>
                  <a:srgbClr val="334155"/>
                </a:solidFill>
                <a:latin typeface="Arial"/>
              </a:rPr>
              <a:t>:  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[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укажите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дату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основания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dirty="0" err="1">
                <a:solidFill>
                  <a:srgbClr val="334155"/>
                </a:solidFill>
                <a:latin typeface="Arial"/>
              </a:rPr>
              <a:t>Сотрудников</a:t>
            </a:r>
            <a:r>
              <a:rPr sz="1300" b="1" dirty="0">
                <a:solidFill>
                  <a:srgbClr val="334155"/>
                </a:solidFill>
                <a:latin typeface="Arial"/>
              </a:rPr>
              <a:t>:  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[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укажите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количество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сотрудников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dirty="0" err="1">
                <a:solidFill>
                  <a:srgbClr val="334155"/>
                </a:solidFill>
                <a:latin typeface="Arial"/>
              </a:rPr>
              <a:t>Директор</a:t>
            </a:r>
            <a:r>
              <a:rPr sz="1300" b="1" dirty="0">
                <a:solidFill>
                  <a:srgbClr val="334155"/>
                </a:solidFill>
                <a:latin typeface="Arial"/>
              </a:rPr>
              <a:t>:  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[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укажите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ФИО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директора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51206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73152" cy="4434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E293B"/>
                </a:solidFill>
                <a:latin typeface="Arial"/>
              </a:rPr>
              <a:t>Чем занимается предприятие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475569"/>
                </a:solidFill>
                <a:latin typeface="Arial"/>
              </a:rPr>
              <a:t>Розничная торговля товарами для дома и хозяйства. Основные группы товаров: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sz="1300" b="0">
                <a:solidFill>
                  <a:srgbClr val="475569"/>
                </a:solidFill>
                <a:latin typeface="Arial"/>
              </a:rPr>
              <a:t>Посуда и кухонные принадлежности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sz="1300" b="0">
                <a:solidFill>
                  <a:srgbClr val="475569"/>
                </a:solidFill>
                <a:latin typeface="Arial"/>
              </a:rPr>
              <a:t>Текстиль и товары для дома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sz="1300" b="0">
                <a:solidFill>
                  <a:srgbClr val="475569"/>
                </a:solidFill>
                <a:latin typeface="Arial"/>
              </a:rPr>
              <a:t>Бытовая химия и уход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sz="1300" b="0">
                <a:solidFill>
                  <a:srgbClr val="475569"/>
                </a:solidFill>
                <a:latin typeface="Arial"/>
              </a:rPr>
              <a:t>Хозяйственные товары и инструменты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sz="1300" b="0">
                <a:solidFill>
                  <a:srgbClr val="475569"/>
                </a:solidFill>
                <a:latin typeface="Arial"/>
              </a:rPr>
              <a:t>Декор и товары для сада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СЛАЙД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Цель и задачи практики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10460736" cy="12344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783080"/>
            <a:ext cx="73152" cy="1234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1965960"/>
            <a:ext cx="9784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47857"/>
                </a:solidFill>
                <a:latin typeface="Arial"/>
              </a:rPr>
              <a:t>Цель</a:t>
            </a:r>
            <a:r>
              <a:rPr sz="1600" b="1" dirty="0">
                <a:solidFill>
                  <a:srgbClr val="047857"/>
                </a:solidFill>
                <a:latin typeface="Arial"/>
              </a:rPr>
              <a:t> — 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разработать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веб-приложение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«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Галамарт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Склад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»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для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учёта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товарных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остатков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контроля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минимального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запаса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оформления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заявок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поставщикам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и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формирования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отчётности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3375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337560"/>
            <a:ext cx="73152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19" y="3538728"/>
            <a:ext cx="2770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59669"/>
                </a:solidFill>
                <a:latin typeface="Arial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Анализ — </a:t>
            </a:r>
            <a:r>
              <a:rPr sz="1250" b="0">
                <a:solidFill>
                  <a:srgbClr val="475569"/>
                </a:solidFill>
                <a:latin typeface="Arial"/>
              </a:rPr>
              <a:t>предметной области и процесса складского учёта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4" y="33375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43984" y="3337560"/>
            <a:ext cx="73152" cy="13716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64024" y="3538728"/>
            <a:ext cx="2770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59669"/>
                </a:solidFill>
                <a:latin typeface="Arial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Проектирование — </a:t>
            </a:r>
            <a:r>
              <a:rPr sz="1250" b="0">
                <a:solidFill>
                  <a:srgbClr val="475569"/>
                </a:solidFill>
                <a:latin typeface="Arial"/>
              </a:rPr>
              <a:t>структуры данных и функциональной модели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33375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19288" y="3337560"/>
            <a:ext cx="73152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7" y="3538728"/>
            <a:ext cx="2770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59669"/>
                </a:solidFill>
                <a:latin typeface="Arial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Разработка — </a:t>
            </a:r>
            <a:r>
              <a:rPr sz="1250" b="0">
                <a:solidFill>
                  <a:srgbClr val="475569"/>
                </a:solidFill>
                <a:latin typeface="Arial"/>
              </a:rPr>
              <a:t>пользовательского интерфейса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9377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8680" y="4937760"/>
            <a:ext cx="73152" cy="13716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19" y="5138928"/>
            <a:ext cx="2770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59669"/>
                </a:solidFill>
                <a:latin typeface="Arial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Реализация — </a:t>
            </a:r>
            <a:r>
              <a:rPr sz="1250" b="0">
                <a:solidFill>
                  <a:srgbClr val="475569"/>
                </a:solidFill>
                <a:latin typeface="Arial"/>
              </a:rPr>
              <a:t>операций с товарами и заявками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43984" y="49377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43984" y="4937760"/>
            <a:ext cx="73152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64024" y="5138928"/>
            <a:ext cx="27706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59669"/>
                </a:solidFill>
                <a:latin typeface="Arial"/>
              </a:rPr>
              <a:t>05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Отладка — </a:t>
            </a:r>
            <a:r>
              <a:rPr sz="1250" b="0">
                <a:solidFill>
                  <a:srgbClr val="475569"/>
                </a:solidFill>
                <a:latin typeface="Arial"/>
              </a:rPr>
              <a:t>и функциональное тестирование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8" y="4937760"/>
            <a:ext cx="33192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19288" y="4937760"/>
            <a:ext cx="73152" cy="13716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5138928"/>
            <a:ext cx="2770632" cy="741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rgbClr val="059669"/>
                </a:solidFill>
                <a:latin typeface="Arial"/>
              </a:rPr>
              <a:t>06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E293B"/>
                </a:solidFill>
                <a:latin typeface="Arial"/>
              </a:rPr>
              <a:t>Оценка</a:t>
            </a:r>
            <a:r>
              <a:rPr sz="14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400" b="1">
                <a:solidFill>
                  <a:srgbClr val="1E293B"/>
                </a:solidFill>
                <a:latin typeface="Arial"/>
              </a:rPr>
              <a:t>— </a:t>
            </a:r>
            <a:r>
              <a:rPr lang="ru-RU" sz="1250" b="0">
                <a:solidFill>
                  <a:srgbClr val="475569"/>
                </a:solidFill>
                <a:latin typeface="Arial"/>
              </a:rPr>
              <a:t>сколько стоит разработка (трудозатраты и деньги)</a:t>
            </a:r>
            <a:endParaRPr sz="1250" b="0" dirty="0">
              <a:solidFill>
                <a:srgbClr val="47556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ВИДЫ РАБОТ  ·  1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1E293B"/>
                </a:solidFill>
                <a:latin typeface="Arial"/>
              </a:rPr>
              <a:t>Анализ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предметной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области</a:t>
            </a:r>
            <a:endParaRPr sz="3000" b="1" i="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572000" cy="3650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err="1">
                <a:solidFill>
                  <a:srgbClr val="1E293B"/>
                </a:solidFill>
                <a:latin typeface="Arial"/>
              </a:rPr>
              <a:t>Проблема</a:t>
            </a:r>
            <a:r>
              <a:rPr sz="1600" b="1" dirty="0">
                <a:solidFill>
                  <a:srgbClr val="1E293B"/>
                </a:solidFill>
                <a:latin typeface="Arial"/>
              </a:rPr>
              <a:t> «</a:t>
            </a:r>
            <a:r>
              <a:rPr sz="1600" b="1" dirty="0" err="1">
                <a:solidFill>
                  <a:srgbClr val="1E293B"/>
                </a:solidFill>
                <a:latin typeface="Arial"/>
              </a:rPr>
              <a:t>как</a:t>
            </a:r>
            <a:r>
              <a:rPr sz="16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Arial"/>
              </a:rPr>
              <a:t>есть</a:t>
            </a:r>
            <a:r>
              <a:rPr sz="1600" b="1" dirty="0">
                <a:solidFill>
                  <a:srgbClr val="1E293B"/>
                </a:solidFill>
                <a:latin typeface="Arial"/>
              </a:rPr>
              <a:t>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Остатки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ведут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в Excel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или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на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бумаге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Нет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автоматической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подсветки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дефицита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Заявки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поставщикам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собираются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вручную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Задержки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поставок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и «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выпадающие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»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позиции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spcBef>
                <a:spcPts val="1200"/>
              </a:spcBef>
              <a:spcAft>
                <a:spcPts val="800"/>
              </a:spcAft>
            </a:pPr>
            <a:r>
              <a:rPr sz="1600" b="1" dirty="0" err="1">
                <a:solidFill>
                  <a:srgbClr val="1E293B"/>
                </a:solidFill>
                <a:latin typeface="Arial"/>
              </a:rPr>
              <a:t>Что</a:t>
            </a:r>
            <a:r>
              <a:rPr sz="16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Arial"/>
              </a:rPr>
              <a:t>сделано</a:t>
            </a:r>
            <a:endParaRPr sz="1600" b="1" dirty="0">
              <a:solidFill>
                <a:srgbClr val="1E293B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00" b="0">
                <a:solidFill>
                  <a:srgbClr val="475569"/>
                </a:solidFill>
                <a:latin typeface="Arial"/>
              </a:rPr>
              <a:t>Описал, как магазин ведёт складской учёт сейчас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00" b="0">
                <a:solidFill>
                  <a:srgbClr val="475569"/>
                </a:solidFill>
                <a:latin typeface="Arial"/>
              </a:rPr>
              <a:t>Выделил участников</a:t>
            </a:r>
            <a:r>
              <a:rPr sz="1300" b="0">
                <a:solidFill>
                  <a:srgbClr val="475569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администратор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, </a:t>
            </a:r>
            <a:endParaRPr lang="en-US"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dirty="0" err="1">
                <a:solidFill>
                  <a:srgbClr val="475569"/>
                </a:solidFill>
                <a:latin typeface="Arial"/>
              </a:rPr>
              <a:t>товаровед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директор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00" b="0">
                <a:solidFill>
                  <a:srgbClr val="475569"/>
                </a:solidFill>
                <a:latin typeface="Arial"/>
              </a:rPr>
              <a:t>Начертил схему процесса «как есть» (IDEF0)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00" b="0">
                <a:solidFill>
                  <a:srgbClr val="475569"/>
                </a:solidFill>
                <a:latin typeface="Arial"/>
              </a:rPr>
              <a:t>Сформулировал цель и задачи системы</a:t>
            </a:r>
            <a:endParaRPr sz="1300" b="0" dirty="0">
              <a:solidFill>
                <a:srgbClr val="475569"/>
              </a:solidFill>
              <a:latin typeface="Arial"/>
            </a:endParaRPr>
          </a:p>
        </p:txBody>
      </p:sp>
      <p:pic>
        <p:nvPicPr>
          <p:cNvPr id="12" name="Picture 11" descr="idef0_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407" y="1303700"/>
            <a:ext cx="6548153" cy="450110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669280" y="6236208"/>
            <a:ext cx="5669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4748B"/>
                </a:solidFill>
                <a:latin typeface="Arial"/>
              </a:rPr>
              <a:t>Рисунок — </a:t>
            </a:r>
            <a:r>
              <a:rPr lang="ru-RU" sz="900" b="0" i="1">
                <a:solidFill>
                  <a:srgbClr val="64748B"/>
                </a:solidFill>
                <a:latin typeface="Arial"/>
              </a:rPr>
              <a:t>Схема складского учёта «как есть» (IDEF0)</a:t>
            </a:r>
            <a:endParaRPr sz="900" b="0" i="1">
              <a:solidFill>
                <a:srgbClr val="64748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ВИДЫ РАБОТ  ·  2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Проектирование информационной системы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5</a:t>
            </a:r>
          </a:p>
        </p:txBody>
      </p:sp>
      <p:pic>
        <p:nvPicPr>
          <p:cNvPr id="11" name="Picture 10" descr="idef0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63" y="1312752"/>
            <a:ext cx="4916717" cy="353356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12" name="Picture 11" descr="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837" y="1312752"/>
            <a:ext cx="5105984" cy="353356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68680" y="49560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4748B"/>
                </a:solidFill>
                <a:latin typeface="Arial"/>
              </a:rPr>
              <a:t>Функциональная модель «как должно быть»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95604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4748B"/>
                </a:solidFill>
                <a:latin typeface="Arial"/>
              </a:rPr>
              <a:t>Диаграмма вариантов использования (UML Use Case)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349240"/>
            <a:ext cx="1046073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5349240"/>
            <a:ext cx="73152" cy="868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5486400"/>
            <a:ext cx="9784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Роли системы:  </a:t>
            </a:r>
            <a:r>
              <a:rPr sz="1250" b="0">
                <a:solidFill>
                  <a:srgbClr val="475569"/>
                </a:solidFill>
                <a:latin typeface="Arial"/>
              </a:rPr>
              <a:t>Администратор — учётные записи и роли   ·   Товаровед — каталог, остатки, заявки   ·   Директор — сводные показатели и отчёты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ВИДЫ РАБОТ  ·  3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Проектирование базы данных (3НФ)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6</a:t>
            </a:r>
          </a:p>
        </p:txBody>
      </p:sp>
      <p:pic>
        <p:nvPicPr>
          <p:cNvPr id="11" name="Picture 10" descr="er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58474"/>
            <a:ext cx="6492240" cy="423833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68680" y="623620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4748B"/>
                </a:solidFill>
                <a:latin typeface="Arial"/>
              </a:rPr>
              <a:t>Рисунок — ER-диаграмма базы данных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783080"/>
            <a:ext cx="37033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1783080"/>
            <a:ext cx="73152" cy="44348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1965960"/>
            <a:ext cx="3108960" cy="242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1E293B"/>
                </a:solidFill>
                <a:latin typeface="Arial"/>
              </a:rPr>
              <a:t>7 </a:t>
            </a:r>
            <a:r>
              <a:rPr sz="1500" b="1" dirty="0" err="1">
                <a:solidFill>
                  <a:srgbClr val="1E293B"/>
                </a:solidFill>
                <a:latin typeface="Arial"/>
              </a:rPr>
              <a:t>таблиц</a:t>
            </a:r>
            <a:r>
              <a:rPr sz="1500" b="1" dirty="0">
                <a:solidFill>
                  <a:srgbClr val="1E293B"/>
                </a:solidFill>
                <a:latin typeface="Arial"/>
              </a:rPr>
              <a:t> в 3-й </a:t>
            </a:r>
            <a:r>
              <a:rPr sz="1500" b="1" dirty="0" err="1">
                <a:solidFill>
                  <a:srgbClr val="1E293B"/>
                </a:solidFill>
                <a:latin typeface="Arial"/>
              </a:rPr>
              <a:t>нормальной</a:t>
            </a:r>
            <a:r>
              <a:rPr sz="15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E293B"/>
                </a:solidFill>
                <a:latin typeface="Arial"/>
              </a:rPr>
              <a:t>форме</a:t>
            </a:r>
            <a:endParaRPr sz="1500" b="1" dirty="0">
              <a:solidFill>
                <a:srgbClr val="1E293B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categories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категории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suppliers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поставщики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products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товары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stock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остатки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orders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заявки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 err="1">
                <a:solidFill>
                  <a:srgbClr val="334155"/>
                </a:solidFill>
                <a:latin typeface="Arial"/>
              </a:rPr>
              <a:t>order_items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позиции</a:t>
            </a:r>
            <a:r>
              <a:rPr sz="12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заявок</a:t>
            </a:r>
            <a:endParaRPr sz="12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200" b="1" dirty="0">
                <a:solidFill>
                  <a:srgbClr val="334155"/>
                </a:solidFill>
                <a:latin typeface="Arial"/>
              </a:rPr>
              <a:t>users</a:t>
            </a:r>
            <a:r>
              <a:rPr sz="1200" b="0" dirty="0">
                <a:solidFill>
                  <a:srgbClr val="64748B"/>
                </a:solidFill>
                <a:latin typeface="Arial"/>
              </a:rPr>
              <a:t>  —  </a:t>
            </a:r>
            <a:r>
              <a:rPr sz="1200" b="0" dirty="0" err="1">
                <a:solidFill>
                  <a:srgbClr val="475569"/>
                </a:solidFill>
                <a:latin typeface="Arial"/>
              </a:rPr>
              <a:t>пользователи</a:t>
            </a:r>
            <a:endParaRPr sz="1200" b="0" dirty="0">
              <a:solidFill>
                <a:srgbClr val="47556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ВИДЫ РАБОТ  ·  4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Разработка интерфейса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" y="1216485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7</a:t>
            </a:r>
          </a:p>
        </p:txBody>
      </p:sp>
      <p:pic>
        <p:nvPicPr>
          <p:cNvPr id="11" name="Picture 10" descr="fig_4_2_dashboard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372" y="1266777"/>
            <a:ext cx="5259880" cy="365269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12" name="Picture 11" descr="fig_3_4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151" y="121244"/>
            <a:ext cx="2182146" cy="472507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68680" y="4956048"/>
            <a:ext cx="7452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 dirty="0" err="1">
                <a:solidFill>
                  <a:srgbClr val="64748B"/>
                </a:solidFill>
                <a:latin typeface="Arial"/>
              </a:rPr>
              <a:t>Дашборд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: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товары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,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дефицит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,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заявки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,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стоимость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запасов</a:t>
            </a:r>
            <a:endParaRPr sz="950" b="0" i="1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11624" y="4965192"/>
            <a:ext cx="27432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950" b="0" i="1" dirty="0" err="1">
                <a:solidFill>
                  <a:srgbClr val="64748B"/>
                </a:solidFill>
                <a:latin typeface="Arial"/>
              </a:rPr>
              <a:t>Адаптив</a:t>
            </a:r>
            <a:r>
              <a:rPr lang="ru-RU" sz="950" b="0" i="1" dirty="0">
                <a:solidFill>
                  <a:srgbClr val="64748B"/>
                </a:solidFill>
                <a:latin typeface="Arial"/>
              </a:rPr>
              <a:t> под </a:t>
            </a:r>
            <a:r>
              <a:rPr lang="ru-RU" sz="950" i="1" dirty="0">
                <a:solidFill>
                  <a:srgbClr val="64748B"/>
                </a:solidFill>
                <a:latin typeface="Arial"/>
              </a:rPr>
              <a:t>смартфоны</a:t>
            </a:r>
            <a:endParaRPr lang="en-US" sz="950" b="0" i="1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8680" y="5349240"/>
            <a:ext cx="1046073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5349240"/>
            <a:ext cx="73152" cy="868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5708688"/>
            <a:ext cx="9784080" cy="195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1E293B"/>
                </a:solidFill>
                <a:latin typeface="Arial"/>
              </a:rPr>
              <a:t>Дизайн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:</a:t>
            </a:r>
            <a:endParaRPr sz="1250" b="0" dirty="0">
              <a:solidFill>
                <a:srgbClr val="47556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3774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59669"/>
                </a:solidFill>
                <a:latin typeface="Arial"/>
              </a:rPr>
              <a:t>ВИДЫ РАБОТ  ·  5 ИЗ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5593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1E293B"/>
                </a:solidFill>
                <a:latin typeface="Arial"/>
              </a:rPr>
              <a:t>Реализация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,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заявки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и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тестирование</a:t>
            </a:r>
            <a:endParaRPr sz="3000" b="1" i="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8</a:t>
            </a:r>
          </a:p>
        </p:txBody>
      </p:sp>
      <p:pic>
        <p:nvPicPr>
          <p:cNvPr id="11" name="Picture 10" descr="fig_3_3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971549"/>
            <a:ext cx="4613236" cy="320363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12" name="Picture 11" descr="fig_4_5_deficit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870893"/>
            <a:ext cx="4761217" cy="330640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76375" y="4213573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 dirty="0" err="1">
                <a:solidFill>
                  <a:srgbClr val="64748B"/>
                </a:solidFill>
                <a:latin typeface="Arial"/>
              </a:rPr>
              <a:t>Заявки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поставщикам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: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статусы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«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новая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→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отправлена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→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получена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4232133"/>
            <a:ext cx="5166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 dirty="0" err="1">
                <a:solidFill>
                  <a:srgbClr val="64748B"/>
                </a:solidFill>
                <a:latin typeface="Arial"/>
              </a:rPr>
              <a:t>Отчёт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о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дефиците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с </a:t>
            </a:r>
            <a:r>
              <a:rPr sz="950" b="0" i="1" dirty="0" err="1">
                <a:solidFill>
                  <a:srgbClr val="64748B"/>
                </a:solidFill>
                <a:latin typeface="Arial"/>
              </a:rPr>
              <a:t>экспортом</a:t>
            </a:r>
            <a:r>
              <a:rPr sz="950" b="0" i="1" dirty="0">
                <a:solidFill>
                  <a:srgbClr val="64748B"/>
                </a:solidFill>
                <a:latin typeface="Arial"/>
              </a:rPr>
              <a:t> в PDF / Excel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52628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4526280"/>
            <a:ext cx="73152" cy="16916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681728"/>
            <a:ext cx="45262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E293B"/>
                </a:solidFill>
                <a:latin typeface="Arial"/>
              </a:rPr>
              <a:t>Технологии</a:t>
            </a:r>
            <a:endParaRPr sz="1400" b="1" dirty="0">
              <a:solidFill>
                <a:srgbClr val="1E293B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475569"/>
                </a:solidFill>
                <a:latin typeface="Arial"/>
              </a:rPr>
              <a:t>HTML5 · CSS3 · Tailwind CSS · JavaScript ES6 · </a:t>
            </a:r>
            <a:r>
              <a:rPr sz="1200" b="0" i="0" dirty="0" err="1">
                <a:solidFill>
                  <a:srgbClr val="475569"/>
                </a:solidFill>
                <a:latin typeface="Arial"/>
              </a:rPr>
              <a:t>Lucide</a:t>
            </a:r>
            <a:r>
              <a:rPr sz="1200" b="0" i="0" dirty="0">
                <a:solidFill>
                  <a:srgbClr val="475569"/>
                </a:solidFill>
                <a:latin typeface="Arial"/>
              </a:rPr>
              <a:t> · </a:t>
            </a:r>
            <a:r>
              <a:rPr sz="1200" b="0" i="0" dirty="0" err="1">
                <a:solidFill>
                  <a:srgbClr val="475569"/>
                </a:solidFill>
                <a:latin typeface="Arial"/>
              </a:rPr>
              <a:t>jsPDF</a:t>
            </a:r>
            <a:r>
              <a:rPr sz="1200" b="0" i="0" dirty="0">
                <a:solidFill>
                  <a:srgbClr val="475569"/>
                </a:solidFill>
                <a:latin typeface="Arial"/>
              </a:rPr>
              <a:t> / </a:t>
            </a:r>
            <a:r>
              <a:rPr sz="1200" b="0" i="0" dirty="0" err="1">
                <a:solidFill>
                  <a:srgbClr val="475569"/>
                </a:solidFill>
                <a:latin typeface="Arial"/>
              </a:rPr>
              <a:t>SheetJS</a:t>
            </a:r>
            <a:r>
              <a:rPr sz="1200" b="0" i="0" dirty="0">
                <a:solidFill>
                  <a:srgbClr val="475569"/>
                </a:solidFill>
                <a:latin typeface="Arial"/>
              </a:rPr>
              <a:t> · </a:t>
            </a:r>
            <a:r>
              <a:rPr sz="1200" b="0" i="0" dirty="0" err="1">
                <a:solidFill>
                  <a:srgbClr val="475569"/>
                </a:solidFill>
                <a:latin typeface="Arial"/>
              </a:rPr>
              <a:t>localStorage</a:t>
            </a:r>
            <a:endParaRPr sz="1200" b="0" i="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72200" y="4526280"/>
            <a:ext cx="5166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4526280"/>
            <a:ext cx="73152" cy="1691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681728"/>
            <a:ext cx="457200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Arial"/>
              </a:rPr>
              <a:t>Функциональное тестирование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6 сценариев: вход, добавление товара, поиск и фильтр, создание заявки, получение, экспорт.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59669"/>
                </a:solidFill>
                <a:latin typeface="Arial"/>
              </a:rPr>
              <a:t>СЛАЙД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1E293B"/>
                </a:solidFill>
                <a:latin typeface="Arial"/>
              </a:rPr>
              <a:t>Оценка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затрат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на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</a:t>
            </a:r>
            <a:r>
              <a:rPr sz="3000" b="1" i="0" dirty="0" err="1">
                <a:solidFill>
                  <a:srgbClr val="1E293B"/>
                </a:solidFill>
                <a:latin typeface="Arial"/>
              </a:rPr>
              <a:t>разработку</a:t>
            </a:r>
            <a:r>
              <a:rPr sz="3000" b="1" i="0" dirty="0">
                <a:solidFill>
                  <a:srgbClr val="1E293B"/>
                </a:solidFill>
                <a:latin typeface="Arial"/>
              </a:rPr>
              <a:t> (COCOMO II)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1016" y="3909060"/>
            <a:ext cx="443484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9486" y="1805940"/>
            <a:ext cx="11186161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9487" y="1805940"/>
            <a:ext cx="73152" cy="44348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6667" y="1945001"/>
            <a:ext cx="4572000" cy="266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 dirty="0" err="1">
                <a:solidFill>
                  <a:srgbClr val="1E293B"/>
                </a:solidFill>
                <a:latin typeface="Arial"/>
              </a:rPr>
              <a:t>Итоговая</a:t>
            </a:r>
            <a:r>
              <a:rPr sz="17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1E293B"/>
                </a:solidFill>
                <a:latin typeface="Arial"/>
              </a:rPr>
              <a:t>смета</a:t>
            </a:r>
            <a:endParaRPr sz="1700" b="1" dirty="0">
              <a:solidFill>
                <a:srgbClr val="1E293B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dirty="0" err="1">
                <a:solidFill>
                  <a:srgbClr val="475569"/>
                </a:solidFill>
                <a:latin typeface="Arial"/>
              </a:rPr>
              <a:t>Трудозатраты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  1 350 000 ₽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dirty="0" err="1">
                <a:solidFill>
                  <a:srgbClr val="475569"/>
                </a:solidFill>
                <a:latin typeface="Arial"/>
              </a:rPr>
              <a:t>Прототипирование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  30 000 ₽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dirty="0" err="1">
                <a:solidFill>
                  <a:srgbClr val="475569"/>
                </a:solidFill>
                <a:latin typeface="Arial"/>
              </a:rPr>
              <a:t>Дизайн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инфраструктура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  20 000 ₽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dirty="0" err="1">
                <a:solidFill>
                  <a:srgbClr val="475569"/>
                </a:solidFill>
                <a:latin typeface="Arial"/>
              </a:rPr>
              <a:t>Статический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хостинг</a:t>
            </a:r>
            <a:r>
              <a:rPr sz="1300" b="1" dirty="0">
                <a:solidFill>
                  <a:srgbClr val="1E293B"/>
                </a:solidFill>
                <a:latin typeface="Arial"/>
              </a:rPr>
              <a:t>   0 ₽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1" dirty="0" err="1">
                <a:solidFill>
                  <a:srgbClr val="1E293B"/>
                </a:solidFill>
                <a:latin typeface="Arial"/>
              </a:rPr>
              <a:t>Итого</a:t>
            </a:r>
            <a:r>
              <a:rPr sz="1600" b="1" dirty="0">
                <a:solidFill>
                  <a:srgbClr val="1E293B"/>
                </a:solidFill>
                <a:latin typeface="Arial"/>
              </a:rPr>
              <a:t>:  </a:t>
            </a:r>
            <a:r>
              <a:rPr sz="1800" b="1" dirty="0">
                <a:solidFill>
                  <a:srgbClr val="047857"/>
                </a:solidFill>
                <a:latin typeface="Arial"/>
              </a:rPr>
              <a:t>1 400 000 ₽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ru-RU" sz="1100" b="0" i="1" dirty="0">
                <a:solidFill>
                  <a:srgbClr val="64748B"/>
                </a:solidFill>
                <a:latin typeface="Arial"/>
              </a:rPr>
              <a:t>Проще говоря: приложение — это примерно 5 000 строк кода. По методике COCOMO II это около 13,5 человеко-месяцев, т.е. ~6 месяцев работы разработчика при ставке 100 000 ₽ в месяц.</a:t>
            </a:r>
            <a:endParaRPr sz="1100" b="0" i="1" dirty="0">
              <a:solidFill>
                <a:srgbClr val="64748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СЛАЙД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3000" b="1" i="0">
                <a:solidFill>
                  <a:srgbClr val="1E293B"/>
                </a:solidFill>
                <a:latin typeface="Arial"/>
              </a:rPr>
              <a:t>Что было легко, а где пришлось повозиться</a:t>
            </a:r>
            <a:endParaRPr sz="3000" b="1" i="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50749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783080"/>
            <a:ext cx="73152" cy="4434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011680"/>
            <a:ext cx="4480560" cy="1174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dirty="0" err="1">
                <a:solidFill>
                  <a:srgbClr val="047857"/>
                </a:solidFill>
                <a:latin typeface="Arial"/>
              </a:rPr>
              <a:t>Что</a:t>
            </a:r>
            <a:r>
              <a:rPr sz="1800" b="1" dirty="0">
                <a:solidFill>
                  <a:srgbClr val="047857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047857"/>
                </a:solidFill>
                <a:latin typeface="Arial"/>
              </a:rPr>
              <a:t>было</a:t>
            </a:r>
            <a:r>
              <a:rPr sz="1800" b="1" dirty="0">
                <a:solidFill>
                  <a:srgbClr val="047857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047857"/>
                </a:solidFill>
                <a:latin typeface="Arial"/>
              </a:rPr>
              <a:t>легко</a:t>
            </a:r>
            <a:endParaRPr sz="1800" b="1" dirty="0">
              <a:solidFill>
                <a:srgbClr val="047857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00" b="0">
                <a:solidFill>
                  <a:srgbClr val="475569"/>
                </a:solidFill>
                <a:latin typeface="Arial"/>
              </a:rPr>
              <a:t>Вёрстка и оформление — на готовой библиотеке Tailwind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00" b="0">
                <a:solidFill>
                  <a:srgbClr val="475569"/>
                </a:solidFill>
                <a:latin typeface="Arial"/>
              </a:rPr>
              <a:t>Каталог товаров, поиск и фильтры</a:t>
            </a:r>
            <a:r>
              <a:rPr sz="1300" b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—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быстро</a:t>
            </a:r>
            <a:endParaRPr sz="1300" b="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1663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4572000" cy="2194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ru-RU" sz="1800" b="1">
                <a:solidFill>
                  <a:srgbClr val="DC2626"/>
                </a:solidFill>
                <a:latin typeface="Arial"/>
              </a:rPr>
              <a:t>Где пришлось повозиться</a:t>
            </a:r>
            <a:endParaRPr sz="1800" b="1" dirty="0">
              <a:solidFill>
                <a:srgbClr val="DC2626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059669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Кириллица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в PDF —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решил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через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шрифт</a:t>
            </a:r>
            <a:r>
              <a:rPr sz="130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Arial"/>
              </a:rPr>
              <a:t>DejaVuSans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00" b="0">
                <a:solidFill>
                  <a:srgbClr val="475569"/>
                </a:solidFill>
                <a:latin typeface="Arial"/>
              </a:rPr>
              <a:t>Долго разбирался, как при получении заявки автоматически увеличить остаток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00" b="0">
                <a:solidFill>
                  <a:srgbClr val="475569"/>
                </a:solidFill>
                <a:latin typeface="Arial"/>
              </a:rPr>
              <a:t>Добавил проверки форм: пустые поля, отрицательное количество, повтор артикулов</a:t>
            </a:r>
            <a:endParaRPr sz="130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00" b="0">
                <a:solidFill>
                  <a:srgbClr val="475569"/>
                </a:solidFill>
                <a:latin typeface="Arial"/>
              </a:rPr>
              <a:t>Данные пока хранятся в браузере — серверной базы в прототипе нет</a:t>
            </a:r>
            <a:endParaRPr sz="1300" b="0" dirty="0">
              <a:solidFill>
                <a:srgbClr val="47556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СЛАЙД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93B"/>
                </a:solidFill>
                <a:latin typeface="Arial"/>
              </a:rPr>
              <a:t>Выводы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1481328"/>
            <a:ext cx="137160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6419088"/>
            <a:ext cx="10460736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Галамарт Склад  ·  ПМ.11 Разработка, администрирование и защита баз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1046073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783080"/>
            <a:ext cx="73152" cy="2377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011680"/>
            <a:ext cx="9692640" cy="160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dirty="0" err="1">
                <a:solidFill>
                  <a:srgbClr val="1E293B"/>
                </a:solidFill>
                <a:latin typeface="Arial"/>
              </a:rPr>
              <a:t>Результат</a:t>
            </a:r>
            <a:r>
              <a:rPr sz="18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Arial"/>
              </a:rPr>
              <a:t>практики</a:t>
            </a:r>
            <a:endParaRPr sz="1800" b="1" dirty="0">
              <a:solidFill>
                <a:srgbClr val="1E293B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50" b="0">
                <a:solidFill>
                  <a:srgbClr val="475569"/>
                </a:solidFill>
                <a:latin typeface="Arial"/>
              </a:rPr>
              <a:t>Изучил, как устроен складской учёт магазина, и начертил схемы процесса (IDEF0, UML)</a:t>
            </a:r>
            <a:endParaRPr sz="135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50" b="0">
                <a:solidFill>
                  <a:srgbClr val="475569"/>
                </a:solidFill>
                <a:latin typeface="Arial"/>
              </a:rPr>
              <a:t>Спроектировал базу из 7 таблиц — без дублей, каждая отвечает за своё</a:t>
            </a:r>
            <a:endParaRPr sz="1350" b="0" dirty="0">
              <a:solidFill>
                <a:srgbClr val="47556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50" b="0">
                <a:solidFill>
                  <a:srgbClr val="475569"/>
                </a:solidFill>
                <a:latin typeface="Arial"/>
              </a:rPr>
              <a:t>Сделал и проверил рабочее веб-приложение</a:t>
            </a:r>
            <a:r>
              <a:rPr sz="1350" b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«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Галамарт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Склад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59669"/>
                </a:solidFill>
                <a:latin typeface="Arial"/>
              </a:rPr>
              <a:t>•  </a:t>
            </a:r>
            <a:r>
              <a:rPr lang="ru-RU" sz="1350" b="0">
                <a:solidFill>
                  <a:srgbClr val="475569"/>
                </a:solidFill>
                <a:latin typeface="Arial"/>
              </a:rPr>
              <a:t>Посчитал стоимость разработки (COCOMO II)</a:t>
            </a:r>
            <a:r>
              <a:rPr sz="1350" b="0">
                <a:solidFill>
                  <a:srgbClr val="475569"/>
                </a:solidFill>
                <a:latin typeface="Arial"/>
              </a:rPr>
              <a:t> 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—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около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1,4 </a:t>
            </a:r>
            <a:r>
              <a:rPr sz="1350" b="0" dirty="0" err="1">
                <a:solidFill>
                  <a:srgbClr val="475569"/>
                </a:solidFill>
                <a:latin typeface="Arial"/>
              </a:rPr>
              <a:t>млн</a:t>
            </a:r>
            <a:r>
              <a:rPr sz="1350" b="0" dirty="0">
                <a:solidFill>
                  <a:srgbClr val="475569"/>
                </a:solidFill>
                <a:latin typeface="Arial"/>
              </a:rPr>
              <a:t> 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343400"/>
            <a:ext cx="5074920" cy="1874519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4343400"/>
            <a:ext cx="73152" cy="1874519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4526280"/>
            <a:ext cx="4480560" cy="723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47857"/>
                </a:solidFill>
                <a:latin typeface="Arial"/>
              </a:rPr>
              <a:t>Практическая значимость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50" b="0" i="0">
                <a:solidFill>
                  <a:srgbClr val="475569"/>
                </a:solidFill>
                <a:latin typeface="Arial"/>
              </a:rPr>
              <a:t>Вместо Excel: дефицит виден сразу, а заявка поставщику собирается за пару кликов.</a:t>
            </a:r>
            <a:endParaRPr sz="1250" b="0" i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72200" y="4343400"/>
            <a:ext cx="516636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4343400"/>
            <a:ext cx="73152" cy="18745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526280"/>
            <a:ext cx="4572000" cy="112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1E293B"/>
                </a:solidFill>
                <a:latin typeface="Arial"/>
              </a:rPr>
              <a:t>Перспективы</a:t>
            </a:r>
            <a:r>
              <a:rPr sz="1500" b="1" dirty="0">
                <a:solidFill>
                  <a:srgbClr val="1E293B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E293B"/>
                </a:solidFill>
                <a:latin typeface="Arial"/>
              </a:rPr>
              <a:t>развития</a:t>
            </a:r>
            <a:endParaRPr sz="1500" b="1" dirty="0">
              <a:solidFill>
                <a:srgbClr val="1E293B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50" b="0" i="0" dirty="0">
                <a:solidFill>
                  <a:srgbClr val="475569"/>
                </a:solidFill>
                <a:latin typeface="Arial"/>
              </a:rPr>
              <a:t>Перенести данные из браузера на серверную базу </a:t>
            </a:r>
            <a:r>
              <a:rPr lang="ru-RU" sz="1250" b="0" i="0" dirty="0" err="1">
                <a:solidFill>
                  <a:srgbClr val="475569"/>
                </a:solidFill>
                <a:latin typeface="Arial"/>
              </a:rPr>
              <a:t>PostgreSQL</a:t>
            </a:r>
            <a:r>
              <a:rPr lang="ru-RU" sz="1250" b="0" i="0" dirty="0">
                <a:solidFill>
                  <a:srgbClr val="475569"/>
                </a:solidFill>
                <a:latin typeface="Arial"/>
              </a:rPr>
              <a:t>, чтобы склад могли вести несколько сотрудников; добавить историю товара и штрихкоды, интеграция </a:t>
            </a:r>
            <a:r>
              <a:rPr lang="en-US" sz="1250" b="0" i="0" dirty="0">
                <a:solidFill>
                  <a:srgbClr val="475569"/>
                </a:solidFill>
                <a:latin typeface="Arial"/>
              </a:rPr>
              <a:t>API</a:t>
            </a:r>
            <a:r>
              <a:rPr lang="ru-RU" sz="1250" b="0" i="0" dirty="0">
                <a:solidFill>
                  <a:srgbClr val="475569"/>
                </a:solidFill>
                <a:latin typeface="Arial"/>
              </a:rPr>
              <a:t>.</a:t>
            </a:r>
            <a:endParaRPr sz="1250" b="0" i="0" dirty="0">
              <a:solidFill>
                <a:srgbClr val="475569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937</Words>
  <Application>Microsoft Office PowerPoint</Application>
  <PresentationFormat>Широкоэкранный</PresentationFormat>
  <Paragraphs>140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Алена Шлыкова</cp:lastModifiedBy>
  <cp:revision>10</cp:revision>
  <dcterms:created xsi:type="dcterms:W3CDTF">2013-01-27T09:14:16Z</dcterms:created>
  <dcterms:modified xsi:type="dcterms:W3CDTF">2026-10-01T17:00:33Z</dcterms:modified>
  <cp:category/>
</cp:coreProperties>
</file>